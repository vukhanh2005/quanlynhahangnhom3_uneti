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3" r:id="rId1"/>
  </p:sldMasterIdLst>
  <p:notesMasterIdLst>
    <p:notesMasterId r:id="rId12"/>
  </p:notesMasterIdLst>
  <p:sldIdLst>
    <p:sldId id="256" r:id="rId2"/>
    <p:sldId id="257" r:id="rId3"/>
    <p:sldId id="259" r:id="rId4"/>
    <p:sldId id="266" r:id="rId5"/>
    <p:sldId id="258" r:id="rId6"/>
    <p:sldId id="260" r:id="rId7"/>
    <p:sldId id="262" r:id="rId8"/>
    <p:sldId id="261"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30 giây.</a:t>
            </a:r>
          </a:p>
          <a:p>
            <a:r>
              <a:t>Em là Nguyễn Vũ Khanh, mã sinh viên 23103100019. Em trình bày Module 1 trong đề tài quản lý nhà hàng và đặt bàn của nhóm 3. Phần này gồm tài khoản, đăng nhập, phân quyền và danh mục loại bàn. Trọng tâm bài trình bày là cách dữ liệu đi qua các lớp và cách ứng dụng nhận biết người dùng sau khi đăng nhập.</a:t>
            </a:r>
          </a:p>
          <a:p>
            <a:r>
              <a:t>Nguồn: tài liệu đề tài và mã nguồn Module 1 trong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45 giây.</a:t>
            </a:r>
          </a:p>
          <a:p>
            <a:r>
              <a:t>Module 1 cung cấp tài khoản và phiên đăng nhập để các module sau kiểm tra người dùng. Admin được quản lý danh mục loại bàn, còn User sử dụng chức năng phía khách hàng. Loại bàn là danh mục, ví dụ bàn thường hoặc bàn VIP. Bàn ăn cụ thể như Bàn 01 thuộc Module 2 và tham chiếu loại bàn qua MaLoaiBan. Sau tích hợp, đăng ký còn tạo hồ sơ khách hàng của Module 3, nhưng nghiệp vụ đặt bàn nằm ngoài phạm vi trình bày này.</a:t>
            </a:r>
          </a:p>
          <a:p>
            <a:r>
              <a:t>Nguồn: Models/LoaiBan.cs, Models/TaiKhoan.cs, Service/Implement/AuthService.cs.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TaiKhoan có MaTaiKhoan là khóa chính, TenDangNhap tối đa 50 ký tự, MatKhau tối đa 250 để chứa hash, HoTen, Email, VaiTro và TrangThai. User và Admin là hai giá trị enum. LoaiBan gồm bốn thuộc tính như trên slide. Mô tả có thể để trống. TrangThai biểu diễn hoạt động/ngừng hoạt động. Một loại bàn có thể được nhiều bàn ăn tham chiếu. Không nhầm trạng thái hoạt động của loại bàn với trạng thái sử dụng của bàn ăn.</a:t>
            </a:r>
          </a:p>
          <a:p>
            <a:r>
              <a:t>Nguồn: Models/TaiKhoan.cs, Models/LoaiBan.cs, AppDbContext.cs.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27DA4-E8A8-8116-ACC0-C26445FEE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DB911-3EF3-F331-6779-5DEA20545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ACCAD-70AD-8C00-6B1E-DCFF533F19F1}"/>
              </a:ext>
            </a:extLst>
          </p:cNvPr>
          <p:cNvSpPr>
            <a:spLocks noGrp="1"/>
          </p:cNvSpPr>
          <p:nvPr>
            <p:ph type="body" idx="1"/>
          </p:nvPr>
        </p:nvSpPr>
        <p:spPr/>
        <p:txBody>
          <a:bodyPr/>
          <a:lstStyle/>
          <a:p>
            <a:r>
              <a:t>Thời lượng: 60 giây.</a:t>
            </a:r>
          </a:p>
          <a:p>
            <a:r>
              <a:t>TaiKhoan có MaTaiKhoan là khóa chính, TenDangNhap tối đa 50 ký tự, MatKhau tối đa 250 để chứa hash, HoTen, Email, VaiTro và TrangThai. User và Admin là hai giá trị enum. LoaiBan gồm bốn thuộc tính như trên slide. Mô tả có thể để trống. TrangThai biểu diễn hoạt động/ngừng hoạt động. Một loại bàn có thể được nhiều bàn ăn tham chiếu. Không nhầm trạng thái hoạt động của loại bàn với trạng thái sử dụng của bàn ăn.</a:t>
            </a:r>
          </a:p>
          <a:p>
            <a:r>
              <a:t>Nguồn: Models/TaiKhoan.cs, Models/LoaiBan.cs, AppDbContext.cs.</a:t>
            </a:r>
          </a:p>
        </p:txBody>
      </p:sp>
      <p:sp>
        <p:nvSpPr>
          <p:cNvPr id="4" name="Slide Number Placeholder 3">
            <a:extLst>
              <a:ext uri="{FF2B5EF4-FFF2-40B4-BE49-F238E27FC236}">
                <a16:creationId xmlns:a16="http://schemas.microsoft.com/office/drawing/2014/main" id="{07CAFE13-F4DB-84D3-886D-BD843037F5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26413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Ví dụ Admin gửi form thêm loại bàn. Razor View tạo request HTTP. Controller nhận dữ liệu qua model binding thành LoaiBanRequest, kiểm tra ModelState rồi gọi ILoaiBanService được inject qua constructor. Service kiểm tra nghiệp vụ như tên trùng và chuyển DTO thành entity. Repository dùng AppDbContext để thao tác EF Core và SQL Server. Kết quả trả ngược về controller để hiển thị lỗi hoặc chuyển trang. Riêng tài khoản, AccountController dùng IAuthService và AuthService. Phân lớp giúp tách giao diện, nghiệp vụ và truy cập dữ liệu.</a:t>
            </a:r>
          </a:p>
          <a:p>
            <a:r>
              <a:t>Nguồn: Controllers/Module01/LoaiBanController.cs, Service/Implement/LoaiBanService.cs, Repository/LoaiBanRepository.cs, Program.cs.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AccountController.Register nhận DTO và kiểm tra ModelState. AuthService kiểm tra dữ liệu bắt buộc, độ dài, email, điện thoại, ngày sinh, mật khẩu xác nhận và tên đăng nhập đã tồn tại. ConvertToTaiKhoan luôn gán VaiTro.User, không đọc vai trò từ form. PasswordHelper dùng PasswordHasher để tạo hash. Sau tích hợp Module 3, service tạo KhachHang và gắn navigation vào tài khoản, repository lưu cả hai qua một SaveChanges. Tài khoản Admin được tạo chủ động bằng AccountSeeder với vai trò xác định. Không có tùy chọn tự đăng ký Admin trên form.</a:t>
            </a:r>
          </a:p>
          <a:p>
            <a:r>
              <a:t>Nguồn: Controllers/Module01/AccountController.cs, DTO/TaiKhoan/TaiKhoanRequest.cs, Service/Implement/AuthService.cs, Utils/AccountSeeder.cs.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90 giây.</a:t>
            </a:r>
          </a:p>
          <a:p>
            <a:r>
              <a:t>HTTP không tự ghi nhớ người dùng từ request trước. Session giúp ứng dụng liên kết các request trong cùng phiên. Sau khi đăng nhập, server lưu MaTaiKhoan, HoTen và VaiTro. Trình duyệt giữ cookie chứa mã định danh phiên, không phải bản sao của toàn bộ dữ liệu Session. Trong request tiếp theo, cookie giúp middleware tìm dữ liệu phiên trên server. Dự án dùng AddDistributedMemoryCache, AddSession và UseSession trước khi xử lý controller. Tên DistributedMemoryCache không có nghĩa dữ liệu được chia sẻ giữa nhiều máy, ở cấu hình này dữ liệu nằm trong bộ nhớ tiến trình. IdleTimeout là 10 phút không hoạt động với Session, không phải 10 phút cố định từ lúc đăng nhập. Khởi động lại ứng dụng có thể mất dữ liệu phiên. Đăng xuất gọi Session.Clear để xóa thông tin đã lưu, không đồng nghĩa xóa tài khoản trong database.</a:t>
            </a:r>
          </a:p>
          <a:p>
            <a:r>
              <a:t>Nguồn: Program.cs, Controllers/Module01/AccountController.cs.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Repository tìm tài khoản bằng tên đăng nhập. AuthService trả thông báo nếu không tìm thấy, tài khoản khóa hoặc mật khẩu sai. Với tài khoản hợp lệ, PasswordHelper.VerifyPassword xác minh mật khẩu nhập vào so với hash đã lưu. Hash không được giải mã thành mật khẩu gốc. Khi xác thực thành công, controller lưu mã tài khoản, họ tên và vai trò vào Session rồi chuyển đến TrangChu. Trang chủ chọn giao diện Admin hoặc Client theo vai trò. Mật khẩu không được ghi vào Session.</a:t>
            </a:r>
          </a:p>
          <a:p>
            <a:r>
              <a:t>Nguồn: Service/Implement/AuthService.cs, Helpers/PasswordHelper.cs, Controllers/Module01/AccountController.cs.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Session lưu vai trò để server quyết định quyền trên mỗi request. User có thể dùng giao diện khách hàng nhưng không được quản trị loại bàn. Admin có các quyền xem và cập nhật loại bàn. Việc giấu nút trên View chỉ phục vụ giao diện, người dùng vẫn có thể nhập URL trực tiếp, nên controller hoặc filter phải kiểm tra. Code hiện tại gắn Module2Admin lên LoaiBanController và còn kiểm tra trong OnActionExecuting. Filter chạy trước action filter, do đó khi mất Session có thể trả 403 trước khi đoạn redirect đến Login được chạy. Đây là điểm có thể giải thích khi demo, không nên khẳng định mọi truy cập hết phiên đều tự về Login.</a:t>
            </a:r>
          </a:p>
          <a:p>
            <a:r>
              <a:t>Nguồn: Filters/Module2AdminAttribute.cs, Controllers/Module01/LoaiBanController.cs.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75 giây.</a:t>
            </a:r>
          </a:p>
          <a:p>
            <a:r>
              <a:t>Các action gồm Index, ChiTiet, Them, Sua, Xoa và CapNhatTrangThai. GET hiển thị dữ liệu hoặc form, POST mới lưu thay đổi. ModelState kiểm tra ràng buộc trên DTO. Service kiểm tra tên trùng và trả lỗi nghiệp vụ, controller đưa thông báo vào ModelState hoặc TempData. AutoValidateAntiforgeryToken bảo vệ các request thay đổi dữ liệu của controller loại bàn. Ví dụ xóa LoaiBan VIP trong khi BanAn 05 đang tham chiếu nó: database chặn bởi khóa ngoại Restrict. SaveChanges phát sinh DbUpdateException với lỗi SQL 547, service bắt lỗi và trả thông báo không thể xóa. Cả bàn và loại bàn giữ nguyên. Có thể đổi loại của bàn trước, hoặc tạm ngừng loại bàn nếu chỉ cần ngừng sử dụng.</a:t>
            </a:r>
          </a:p>
          <a:p>
            <a:r>
              <a:t>Nguồn: Controllers/Module01/LoaiBanController.cs, DTO/LoaiBan/LoaiBanRequest.cs, Service/Implement/LoaiBanService.cs, Repository/LoaiBanRepository.cs, AppDbContext.cs.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7688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131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10/22/2026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433732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22380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10/22/2026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70474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10/22/2026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704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10/22/2026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97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48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7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2452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38430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95454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44368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10/22/2026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26726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83706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45569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72264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329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10/22/2026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1621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891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10/22/2026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6331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374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7558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172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760038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50733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3070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1347619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E3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57FE18-3D3C-4E51-8D11-C892E0EDF440}"/>
              </a:ext>
            </a:extLst>
          </p:cNvPr>
          <p:cNvSpPr>
            <a:spLocks noGrp="1"/>
          </p:cNvSpPr>
          <p:nvPr/>
        </p:nvSpPr>
        <p:spPr>
          <a:xfrm>
            <a:off x="609600" y="523875"/>
            <a:ext cx="10953750" cy="952500"/>
          </a:xfrm>
          <a:prstGeom prst="rect">
            <a:avLst/>
          </a:prstGeom>
          <a:noFill/>
          <a:ln w="0">
            <a:noFill/>
          </a:ln>
        </p:spPr>
        <p:txBody>
          <a:bodyPr/>
          <a:lstStyle>
            <a:defPPr>
              <a:defRPr sz="3225" b="1">
                <a:solidFill>
                  <a:srgbClr val="FFFFFF"/>
                </a:solidFill>
                <a:latin typeface="Calibri"/>
                <a:ea typeface="Calibri"/>
                <a:cs typeface="Calibri"/>
              </a:defRPr>
            </a:defPPr>
            <a:lvl1pPr>
              <a:defRPr sz="3225" b="1">
                <a:solidFill>
                  <a:srgbClr val="FFFFFF"/>
                </a:solidFill>
                <a:latin typeface="Calibri"/>
                <a:ea typeface="Calibri"/>
                <a:cs typeface="Calibri"/>
              </a:defRPr>
            </a:lvl1pPr>
            <a:lvl2pPr>
              <a:defRPr sz="3225" b="1">
                <a:solidFill>
                  <a:srgbClr val="FFFFFF"/>
                </a:solidFill>
                <a:latin typeface="Calibri"/>
                <a:ea typeface="Calibri"/>
                <a:cs typeface="Calibri"/>
              </a:defRPr>
            </a:lvl2pPr>
            <a:lvl3pPr>
              <a:defRPr sz="3225" b="1">
                <a:solidFill>
                  <a:srgbClr val="FFFFFF"/>
                </a:solidFill>
                <a:latin typeface="Calibri"/>
                <a:ea typeface="Calibri"/>
                <a:cs typeface="Calibri"/>
              </a:defRPr>
            </a:lvl3pPr>
            <a:lvl4pPr>
              <a:defRPr sz="3225" b="1">
                <a:solidFill>
                  <a:srgbClr val="FFFFFF"/>
                </a:solidFill>
                <a:latin typeface="Calibri"/>
                <a:ea typeface="Calibri"/>
                <a:cs typeface="Calibri"/>
              </a:defRPr>
            </a:lvl4pPr>
            <a:lvl5pPr>
              <a:defRPr sz="3225" b="1">
                <a:solidFill>
                  <a:srgbClr val="FFFFFF"/>
                </a:solidFill>
                <a:latin typeface="Calibri"/>
                <a:ea typeface="Calibri"/>
                <a:cs typeface="Calibri"/>
              </a:defRPr>
            </a:lvl5pPr>
            <a:lvl6pPr>
              <a:defRPr sz="3225" b="1">
                <a:solidFill>
                  <a:srgbClr val="FFFFFF"/>
                </a:solidFill>
                <a:latin typeface="Calibri"/>
                <a:ea typeface="Calibri"/>
                <a:cs typeface="Calibri"/>
              </a:defRPr>
            </a:lvl6pPr>
            <a:lvl7pPr>
              <a:defRPr sz="3225" b="1">
                <a:solidFill>
                  <a:srgbClr val="FFFFFF"/>
                </a:solidFill>
                <a:latin typeface="Calibri"/>
                <a:ea typeface="Calibri"/>
                <a:cs typeface="Calibri"/>
              </a:defRPr>
            </a:lvl7pPr>
            <a:lvl8pPr>
              <a:defRPr sz="3225" b="1">
                <a:solidFill>
                  <a:srgbClr val="FFFFFF"/>
                </a:solidFill>
                <a:latin typeface="Calibri"/>
                <a:ea typeface="Calibri"/>
                <a:cs typeface="Calibri"/>
              </a:defRPr>
            </a:lvl8pPr>
            <a:lvl9pPr>
              <a:defRPr sz="3225" b="1">
                <a:solidFill>
                  <a:srgbClr val="FFFFFF"/>
                </a:solidFill>
                <a:latin typeface="Calibri"/>
                <a:ea typeface="Calibri"/>
                <a:cs typeface="Calibri"/>
              </a:defRPr>
            </a:lvl9pPr>
          </a:lstStyle>
          <a:p>
            <a:pPr>
              <a:defRPr sz="3225" b="1">
                <a:solidFill>
                  <a:srgbClr val="FFFFFF"/>
                </a:solidFill>
                <a:latin typeface="Calibri"/>
                <a:ea typeface="Calibri"/>
                <a:cs typeface="Calibri"/>
              </a:defRPr>
            </a:pPr>
            <a:r>
              <a:rPr sz="3225" b="1">
                <a:solidFill>
                  <a:srgbClr val="FFFFFF"/>
                </a:solidFill>
                <a:latin typeface="Calibri"/>
                <a:ea typeface="Calibri"/>
                <a:cs typeface="Calibri"/>
              </a:rPr>
              <a:t>MODULE 1</a:t>
            </a:r>
          </a:p>
        </p:txBody>
      </p:sp>
      <p:sp>
        <p:nvSpPr>
          <p:cNvPr id="3" name="Rectangle 2">
            <a:extLst>
              <a:ext uri="{FF2B5EF4-FFF2-40B4-BE49-F238E27FC236}">
                <a16:creationId xmlns:a16="http://schemas.microsoft.com/office/drawing/2014/main" id="{9BCA1593-17D5-45BD-851D-E267F3270E71}"/>
              </a:ext>
            </a:extLst>
          </p:cNvPr>
          <p:cNvSpPr>
            <a:spLocks noGrp="1"/>
          </p:cNvSpPr>
          <p:nvPr/>
        </p:nvSpPr>
        <p:spPr>
          <a:xfrm>
            <a:off x="609600" y="1952625"/>
            <a:ext cx="10858500" cy="1809750"/>
          </a:xfrm>
          <a:prstGeom prst="rect">
            <a:avLst/>
          </a:prstGeom>
          <a:noFill/>
          <a:ln w="0">
            <a:noFill/>
          </a:ln>
        </p:spPr>
        <p:txBody>
          <a:bodyPr/>
          <a:lstStyle>
            <a:defPPr>
              <a:defRPr sz="4650" b="1">
                <a:solidFill>
                  <a:srgbClr val="FFFFFF"/>
                </a:solidFill>
                <a:latin typeface="Calibri"/>
                <a:ea typeface="Calibri"/>
                <a:cs typeface="Calibri"/>
              </a:defRPr>
            </a:defPPr>
            <a:lvl1pPr>
              <a:defRPr sz="4650" b="1">
                <a:solidFill>
                  <a:srgbClr val="FFFFFF"/>
                </a:solidFill>
                <a:latin typeface="Calibri"/>
                <a:ea typeface="Calibri"/>
                <a:cs typeface="Calibri"/>
              </a:defRPr>
            </a:lvl1pPr>
            <a:lvl2pPr>
              <a:defRPr sz="4650" b="1">
                <a:solidFill>
                  <a:srgbClr val="FFFFFF"/>
                </a:solidFill>
                <a:latin typeface="Calibri"/>
                <a:ea typeface="Calibri"/>
                <a:cs typeface="Calibri"/>
              </a:defRPr>
            </a:lvl2pPr>
            <a:lvl3pPr>
              <a:defRPr sz="4650" b="1">
                <a:solidFill>
                  <a:srgbClr val="FFFFFF"/>
                </a:solidFill>
                <a:latin typeface="Calibri"/>
                <a:ea typeface="Calibri"/>
                <a:cs typeface="Calibri"/>
              </a:defRPr>
            </a:lvl3pPr>
            <a:lvl4pPr>
              <a:defRPr sz="4650" b="1">
                <a:solidFill>
                  <a:srgbClr val="FFFFFF"/>
                </a:solidFill>
                <a:latin typeface="Calibri"/>
                <a:ea typeface="Calibri"/>
                <a:cs typeface="Calibri"/>
              </a:defRPr>
            </a:lvl4pPr>
            <a:lvl5pPr>
              <a:defRPr sz="4650" b="1">
                <a:solidFill>
                  <a:srgbClr val="FFFFFF"/>
                </a:solidFill>
                <a:latin typeface="Calibri"/>
                <a:ea typeface="Calibri"/>
                <a:cs typeface="Calibri"/>
              </a:defRPr>
            </a:lvl5pPr>
            <a:lvl6pPr>
              <a:defRPr sz="4650" b="1">
                <a:solidFill>
                  <a:srgbClr val="FFFFFF"/>
                </a:solidFill>
                <a:latin typeface="Calibri"/>
                <a:ea typeface="Calibri"/>
                <a:cs typeface="Calibri"/>
              </a:defRPr>
            </a:lvl6pPr>
            <a:lvl7pPr>
              <a:defRPr sz="4650" b="1">
                <a:solidFill>
                  <a:srgbClr val="FFFFFF"/>
                </a:solidFill>
                <a:latin typeface="Calibri"/>
                <a:ea typeface="Calibri"/>
                <a:cs typeface="Calibri"/>
              </a:defRPr>
            </a:lvl7pPr>
            <a:lvl8pPr>
              <a:defRPr sz="4650" b="1">
                <a:solidFill>
                  <a:srgbClr val="FFFFFF"/>
                </a:solidFill>
                <a:latin typeface="Calibri"/>
                <a:ea typeface="Calibri"/>
                <a:cs typeface="Calibri"/>
              </a:defRPr>
            </a:lvl8pPr>
            <a:lvl9pPr>
              <a:defRPr sz="4650" b="1">
                <a:solidFill>
                  <a:srgbClr val="FFFFFF"/>
                </a:solidFill>
                <a:latin typeface="Calibri"/>
                <a:ea typeface="Calibri"/>
                <a:cs typeface="Calibri"/>
              </a:defRPr>
            </a:lvl9pPr>
          </a:lstStyle>
          <a:p>
            <a:pPr>
              <a:defRPr sz="4650" b="1">
                <a:solidFill>
                  <a:srgbClr val="FFFFFF"/>
                </a:solidFill>
                <a:latin typeface="Calibri"/>
                <a:ea typeface="Calibri"/>
                <a:cs typeface="Calibri"/>
              </a:defRPr>
            </a:pPr>
            <a:r>
              <a:rPr sz="4650" b="1">
                <a:solidFill>
                  <a:srgbClr val="FFFFFF"/>
                </a:solidFill>
                <a:latin typeface="Calibri"/>
                <a:ea typeface="Calibri"/>
                <a:cs typeface="Calibri"/>
              </a:rPr>
              <a:t>Tài khoản và phân quyền</a:t>
            </a:r>
          </a:p>
          <a:p>
            <a:pPr>
              <a:defRPr sz="4650" b="1">
                <a:solidFill>
                  <a:srgbClr val="FFFFFF"/>
                </a:solidFill>
                <a:latin typeface="Calibri"/>
                <a:ea typeface="Calibri"/>
                <a:cs typeface="Calibri"/>
              </a:defRPr>
            </a:pPr>
            <a:r>
              <a:rPr sz="4650" b="1">
                <a:solidFill>
                  <a:srgbClr val="FFFFFF"/>
                </a:solidFill>
                <a:latin typeface="Calibri"/>
                <a:ea typeface="Calibri"/>
                <a:cs typeface="Calibri"/>
              </a:rPr>
              <a:t>Quản lý loại bàn</a:t>
            </a:r>
          </a:p>
        </p:txBody>
      </p:sp>
      <p:sp>
        <p:nvSpPr>
          <p:cNvPr id="4" name="Rectangle 3">
            <a:extLst>
              <a:ext uri="{FF2B5EF4-FFF2-40B4-BE49-F238E27FC236}">
                <a16:creationId xmlns:a16="http://schemas.microsoft.com/office/drawing/2014/main" id="{74AF8FCE-81DA-486D-BEF0-F6E74522C6F7}"/>
              </a:ext>
            </a:extLst>
          </p:cNvPr>
          <p:cNvSpPr>
            <a:spLocks noGrp="1"/>
          </p:cNvSpPr>
          <p:nvPr/>
        </p:nvSpPr>
        <p:spPr>
          <a:xfrm>
            <a:off x="666750" y="4048125"/>
            <a:ext cx="10382250" cy="476250"/>
          </a:xfrm>
          <a:prstGeom prst="rect">
            <a:avLst/>
          </a:prstGeom>
          <a:noFill/>
          <a:ln w="0">
            <a:noFill/>
          </a:ln>
        </p:spPr>
        <p:txBody>
          <a:bodyPr/>
          <a:lstStyle>
            <a:defPPr>
              <a:defRPr sz="1875" b="0">
                <a:solidFill>
                  <a:srgbClr val="D5DED5"/>
                </a:solidFill>
                <a:latin typeface="Calibri"/>
                <a:ea typeface="Calibri"/>
                <a:cs typeface="Calibri"/>
              </a:defRPr>
            </a:defPPr>
            <a:lvl1pPr>
              <a:defRPr sz="1875" b="0">
                <a:solidFill>
                  <a:srgbClr val="D5DED5"/>
                </a:solidFill>
                <a:latin typeface="Calibri"/>
                <a:ea typeface="Calibri"/>
                <a:cs typeface="Calibri"/>
              </a:defRPr>
            </a:lvl1pPr>
            <a:lvl2pPr>
              <a:defRPr sz="1875" b="0">
                <a:solidFill>
                  <a:srgbClr val="D5DED5"/>
                </a:solidFill>
                <a:latin typeface="Calibri"/>
                <a:ea typeface="Calibri"/>
                <a:cs typeface="Calibri"/>
              </a:defRPr>
            </a:lvl2pPr>
            <a:lvl3pPr>
              <a:defRPr sz="1875" b="0">
                <a:solidFill>
                  <a:srgbClr val="D5DED5"/>
                </a:solidFill>
                <a:latin typeface="Calibri"/>
                <a:ea typeface="Calibri"/>
                <a:cs typeface="Calibri"/>
              </a:defRPr>
            </a:lvl3pPr>
            <a:lvl4pPr>
              <a:defRPr sz="1875" b="0">
                <a:solidFill>
                  <a:srgbClr val="D5DED5"/>
                </a:solidFill>
                <a:latin typeface="Calibri"/>
                <a:ea typeface="Calibri"/>
                <a:cs typeface="Calibri"/>
              </a:defRPr>
            </a:lvl4pPr>
            <a:lvl5pPr>
              <a:defRPr sz="1875" b="0">
                <a:solidFill>
                  <a:srgbClr val="D5DED5"/>
                </a:solidFill>
                <a:latin typeface="Calibri"/>
                <a:ea typeface="Calibri"/>
                <a:cs typeface="Calibri"/>
              </a:defRPr>
            </a:lvl5pPr>
            <a:lvl6pPr>
              <a:defRPr sz="1875" b="0">
                <a:solidFill>
                  <a:srgbClr val="D5DED5"/>
                </a:solidFill>
                <a:latin typeface="Calibri"/>
                <a:ea typeface="Calibri"/>
                <a:cs typeface="Calibri"/>
              </a:defRPr>
            </a:lvl6pPr>
            <a:lvl7pPr>
              <a:defRPr sz="1875" b="0">
                <a:solidFill>
                  <a:srgbClr val="D5DED5"/>
                </a:solidFill>
                <a:latin typeface="Calibri"/>
                <a:ea typeface="Calibri"/>
                <a:cs typeface="Calibri"/>
              </a:defRPr>
            </a:lvl7pPr>
            <a:lvl8pPr>
              <a:defRPr sz="1875" b="0">
                <a:solidFill>
                  <a:srgbClr val="D5DED5"/>
                </a:solidFill>
                <a:latin typeface="Calibri"/>
                <a:ea typeface="Calibri"/>
                <a:cs typeface="Calibri"/>
              </a:defRPr>
            </a:lvl8pPr>
            <a:lvl9pPr>
              <a:defRPr sz="1875" b="0">
                <a:solidFill>
                  <a:srgbClr val="D5DED5"/>
                </a:solidFill>
                <a:latin typeface="Calibri"/>
                <a:ea typeface="Calibri"/>
                <a:cs typeface="Calibri"/>
              </a:defRPr>
            </a:lvl9pPr>
          </a:lstStyle>
          <a:p>
            <a:pPr>
              <a:defRPr sz="1875" b="0">
                <a:solidFill>
                  <a:srgbClr val="D5DED5"/>
                </a:solidFill>
                <a:latin typeface="Calibri"/>
                <a:ea typeface="Calibri"/>
                <a:cs typeface="Calibri"/>
              </a:defRPr>
            </a:pPr>
            <a:r>
              <a:rPr lang="vi-VN" sz="1875" b="0">
                <a:solidFill>
                  <a:srgbClr val="D5DED5"/>
                </a:solidFill>
                <a:latin typeface="Calibri"/>
                <a:ea typeface="Calibri"/>
                <a:cs typeface="Calibri"/>
              </a:rPr>
              <a:t>Đề tài: </a:t>
            </a:r>
            <a:r>
              <a:rPr sz="1875" b="0">
                <a:solidFill>
                  <a:srgbClr val="D5DED5"/>
                </a:solidFill>
                <a:latin typeface="Calibri"/>
                <a:ea typeface="Calibri"/>
                <a:cs typeface="Calibri"/>
              </a:rPr>
              <a:t>QUẢN LÝ NHÀ HÀNG</a:t>
            </a:r>
          </a:p>
        </p:txBody>
      </p:sp>
      <p:sp>
        <p:nvSpPr>
          <p:cNvPr id="5" name="Rectangle 4">
            <a:extLst>
              <a:ext uri="{FF2B5EF4-FFF2-40B4-BE49-F238E27FC236}">
                <a16:creationId xmlns:a16="http://schemas.microsoft.com/office/drawing/2014/main" id="{2499DB99-BABF-4209-82EC-EAD9DC9FB989}"/>
              </a:ext>
            </a:extLst>
          </p:cNvPr>
          <p:cNvSpPr>
            <a:spLocks noGrp="1"/>
          </p:cNvSpPr>
          <p:nvPr/>
        </p:nvSpPr>
        <p:spPr>
          <a:xfrm>
            <a:off x="666750" y="5095875"/>
            <a:ext cx="8572500" cy="809625"/>
          </a:xfrm>
          <a:prstGeom prst="rect">
            <a:avLst/>
          </a:prstGeom>
          <a:noFill/>
          <a:ln w="0">
            <a:noFill/>
          </a:ln>
        </p:spPr>
        <p:txBody>
          <a:bodyPr/>
          <a:lstStyle>
            <a:defPPr>
              <a:defRPr sz="2100" b="0">
                <a:solidFill>
                  <a:srgbClr val="FFFFFF"/>
                </a:solidFill>
                <a:latin typeface="Calibri"/>
                <a:ea typeface="Calibri"/>
                <a:cs typeface="Calibri"/>
              </a:defRPr>
            </a:defPPr>
            <a:lvl1pPr>
              <a:defRPr sz="2100" b="0">
                <a:solidFill>
                  <a:srgbClr val="FFFFFF"/>
                </a:solidFill>
                <a:latin typeface="Calibri"/>
                <a:ea typeface="Calibri"/>
                <a:cs typeface="Calibri"/>
              </a:defRPr>
            </a:lvl1pPr>
            <a:lvl2pPr>
              <a:defRPr sz="2100" b="0">
                <a:solidFill>
                  <a:srgbClr val="FFFFFF"/>
                </a:solidFill>
                <a:latin typeface="Calibri"/>
                <a:ea typeface="Calibri"/>
                <a:cs typeface="Calibri"/>
              </a:defRPr>
            </a:lvl2pPr>
            <a:lvl3pPr>
              <a:defRPr sz="2100" b="0">
                <a:solidFill>
                  <a:srgbClr val="FFFFFF"/>
                </a:solidFill>
                <a:latin typeface="Calibri"/>
                <a:ea typeface="Calibri"/>
                <a:cs typeface="Calibri"/>
              </a:defRPr>
            </a:lvl3pPr>
            <a:lvl4pPr>
              <a:defRPr sz="2100" b="0">
                <a:solidFill>
                  <a:srgbClr val="FFFFFF"/>
                </a:solidFill>
                <a:latin typeface="Calibri"/>
                <a:ea typeface="Calibri"/>
                <a:cs typeface="Calibri"/>
              </a:defRPr>
            </a:lvl4pPr>
            <a:lvl5pPr>
              <a:defRPr sz="2100" b="0">
                <a:solidFill>
                  <a:srgbClr val="FFFFFF"/>
                </a:solidFill>
                <a:latin typeface="Calibri"/>
                <a:ea typeface="Calibri"/>
                <a:cs typeface="Calibri"/>
              </a:defRPr>
            </a:lvl5pPr>
            <a:lvl6pPr>
              <a:defRPr sz="2100" b="0">
                <a:solidFill>
                  <a:srgbClr val="FFFFFF"/>
                </a:solidFill>
                <a:latin typeface="Calibri"/>
                <a:ea typeface="Calibri"/>
                <a:cs typeface="Calibri"/>
              </a:defRPr>
            </a:lvl6pPr>
            <a:lvl7pPr>
              <a:defRPr sz="2100" b="0">
                <a:solidFill>
                  <a:srgbClr val="FFFFFF"/>
                </a:solidFill>
                <a:latin typeface="Calibri"/>
                <a:ea typeface="Calibri"/>
                <a:cs typeface="Calibri"/>
              </a:defRPr>
            </a:lvl7pPr>
            <a:lvl8pPr>
              <a:defRPr sz="2100" b="0">
                <a:solidFill>
                  <a:srgbClr val="FFFFFF"/>
                </a:solidFill>
                <a:latin typeface="Calibri"/>
                <a:ea typeface="Calibri"/>
                <a:cs typeface="Calibri"/>
              </a:defRPr>
            </a:lvl8pPr>
            <a:lvl9pPr>
              <a:defRPr sz="2100" b="0">
                <a:solidFill>
                  <a:srgbClr val="FFFFFF"/>
                </a:solidFill>
                <a:latin typeface="Calibri"/>
                <a:ea typeface="Calibri"/>
                <a:cs typeface="Calibri"/>
              </a:defRPr>
            </a:lvl9pPr>
          </a:lstStyle>
          <a:p>
            <a:pPr>
              <a:defRPr sz="2100" b="0">
                <a:solidFill>
                  <a:srgbClr val="FFFFFF"/>
                </a:solidFill>
                <a:latin typeface="Calibri"/>
                <a:ea typeface="Calibri"/>
                <a:cs typeface="Calibri"/>
              </a:defRPr>
            </a:pPr>
            <a:r>
              <a:rPr sz="2100" b="0">
                <a:solidFill>
                  <a:srgbClr val="FFFFFF"/>
                </a:solidFill>
                <a:latin typeface="Calibri"/>
                <a:ea typeface="Calibri"/>
                <a:cs typeface="Calibri"/>
              </a:rPr>
              <a:t>Nguyễn Vũ </a:t>
            </a:r>
            <a:r>
              <a:rPr lang="vi-VN" sz="2100" b="0">
                <a:solidFill>
                  <a:srgbClr val="FFFFFF"/>
                </a:solidFill>
                <a:latin typeface="Calibri"/>
                <a:ea typeface="Calibri"/>
                <a:cs typeface="Calibri"/>
              </a:rPr>
              <a:t>Khá</a:t>
            </a:r>
            <a:r>
              <a:rPr sz="2100" b="0">
                <a:solidFill>
                  <a:srgbClr val="FFFFFF"/>
                </a:solidFill>
                <a:latin typeface="Calibri"/>
                <a:ea typeface="Calibri"/>
                <a:cs typeface="Calibri"/>
              </a:rPr>
              <a:t>nh</a:t>
            </a:r>
          </a:p>
          <a:p>
            <a:pPr>
              <a:defRPr sz="2100" b="0">
                <a:solidFill>
                  <a:srgbClr val="FFFFFF"/>
                </a:solidFill>
                <a:latin typeface="Calibri"/>
                <a:ea typeface="Calibri"/>
                <a:cs typeface="Calibri"/>
              </a:defRPr>
            </a:pPr>
            <a:r>
              <a:rPr sz="2100" b="0">
                <a:solidFill>
                  <a:srgbClr val="FFFFFF"/>
                </a:solidFill>
                <a:latin typeface="Calibri"/>
                <a:ea typeface="Calibri"/>
                <a:cs typeface="Calibri"/>
              </a:rPr>
              <a:t>23103100019  </a:t>
            </a:r>
            <a:r>
              <a:rPr lang="vi-VN"/>
              <a:t>- </a:t>
            </a:r>
            <a:r>
              <a:rPr sz="2100" b="0">
                <a:solidFill>
                  <a:srgbClr val="FFFFFF"/>
                </a:solidFill>
                <a:latin typeface="Calibri"/>
                <a:ea typeface="Calibri"/>
                <a:cs typeface="Calibri"/>
              </a:rPr>
              <a:t>Nhóm 3</a:t>
            </a:r>
          </a:p>
        </p:txBody>
      </p:sp>
    </p:spTree>
    <p:extLst>
      <p:ext uri="{BB962C8B-B14F-4D97-AF65-F5344CB8AC3E}">
        <p14:creationId xmlns:p14="http://schemas.microsoft.com/office/powerpoint/2010/main" val="420240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553F2A-09B4-460C-BA1B-75179A50EC89}"/>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Vai trò của Module 1</a:t>
            </a:r>
          </a:p>
        </p:txBody>
      </p:sp>
      <p:sp>
        <p:nvSpPr>
          <p:cNvPr id="14" name="TextBox 13">
            <a:extLst>
              <a:ext uri="{FF2B5EF4-FFF2-40B4-BE49-F238E27FC236}">
                <a16:creationId xmlns:a16="http://schemas.microsoft.com/office/drawing/2014/main" id="{0D479049-158D-A687-408D-F24829C821F4}"/>
              </a:ext>
            </a:extLst>
          </p:cNvPr>
          <p:cNvSpPr txBox="1"/>
          <p:nvPr/>
        </p:nvSpPr>
        <p:spPr>
          <a:xfrm>
            <a:off x="609600" y="2431619"/>
            <a:ext cx="9785684" cy="369332"/>
          </a:xfrm>
          <a:prstGeom prst="rect">
            <a:avLst/>
          </a:prstGeom>
          <a:noFill/>
        </p:spPr>
        <p:txBody>
          <a:bodyPr wrap="square" rtlCol="0">
            <a:spAutoFit/>
          </a:bodyPr>
          <a:lstStyle/>
          <a:p>
            <a:r>
              <a:rPr lang="vi-VN"/>
              <a:t>1. Tạo chức năng đăng kí, đăng nhập</a:t>
            </a:r>
            <a:endParaRPr lang="en-US"/>
          </a:p>
        </p:txBody>
      </p:sp>
      <p:sp>
        <p:nvSpPr>
          <p:cNvPr id="16" name="TextBox 15">
            <a:extLst>
              <a:ext uri="{FF2B5EF4-FFF2-40B4-BE49-F238E27FC236}">
                <a16:creationId xmlns:a16="http://schemas.microsoft.com/office/drawing/2014/main" id="{4E048A96-A229-8741-E2E8-15E728C8DFF0}"/>
              </a:ext>
            </a:extLst>
          </p:cNvPr>
          <p:cNvSpPr txBox="1"/>
          <p:nvPr/>
        </p:nvSpPr>
        <p:spPr>
          <a:xfrm>
            <a:off x="609600" y="3200036"/>
            <a:ext cx="9785684" cy="369332"/>
          </a:xfrm>
          <a:prstGeom prst="rect">
            <a:avLst/>
          </a:prstGeom>
          <a:noFill/>
        </p:spPr>
        <p:txBody>
          <a:bodyPr wrap="square" rtlCol="0">
            <a:spAutoFit/>
          </a:bodyPr>
          <a:lstStyle/>
          <a:p>
            <a:r>
              <a:rPr lang="vi-VN"/>
              <a:t>2. Sử dụng Session để xác thực và phân quyền</a:t>
            </a:r>
            <a:endParaRPr lang="en-US"/>
          </a:p>
        </p:txBody>
      </p:sp>
      <p:sp>
        <p:nvSpPr>
          <p:cNvPr id="18" name="TextBox 17">
            <a:extLst>
              <a:ext uri="{FF2B5EF4-FFF2-40B4-BE49-F238E27FC236}">
                <a16:creationId xmlns:a16="http://schemas.microsoft.com/office/drawing/2014/main" id="{6C6F3AE7-EDB6-1127-648C-D01664D3721A}"/>
              </a:ext>
            </a:extLst>
          </p:cNvPr>
          <p:cNvSpPr txBox="1"/>
          <p:nvPr/>
        </p:nvSpPr>
        <p:spPr>
          <a:xfrm>
            <a:off x="609600" y="4062481"/>
            <a:ext cx="9785684" cy="369332"/>
          </a:xfrm>
          <a:prstGeom prst="rect">
            <a:avLst/>
          </a:prstGeom>
          <a:noFill/>
        </p:spPr>
        <p:txBody>
          <a:bodyPr wrap="square" rtlCol="0">
            <a:spAutoFit/>
          </a:bodyPr>
          <a:lstStyle/>
          <a:p>
            <a:r>
              <a:rPr lang="vi-VN"/>
              <a:t>3. Quản lí loại bàn</a:t>
            </a:r>
            <a:endParaRPr lang="en-US"/>
          </a:p>
        </p:txBody>
      </p:sp>
    </p:spTree>
    <p:extLst>
      <p:ext uri="{BB962C8B-B14F-4D97-AF65-F5344CB8AC3E}">
        <p14:creationId xmlns:p14="http://schemas.microsoft.com/office/powerpoint/2010/main" val="2078022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3D4AAF-105A-4353-9C99-5B95EA6A1685}"/>
              </a:ext>
            </a:extLst>
          </p:cNvPr>
          <p:cNvSpPr>
            <a:spLocks noGrp="1"/>
          </p:cNvSpPr>
          <p:nvPr/>
        </p:nvSpPr>
        <p:spPr>
          <a:xfrm>
            <a:off x="571500" y="64198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lang="vi-VN"/>
              <a:t>2 Entity</a:t>
            </a:r>
            <a:endParaRPr sz="3225" b="1">
              <a:solidFill>
                <a:srgbClr val="192E29"/>
              </a:solidFill>
              <a:latin typeface="Calibri"/>
              <a:ea typeface="Calibri"/>
              <a:cs typeface="Calibri"/>
            </a:endParaRPr>
          </a:p>
        </p:txBody>
      </p:sp>
      <p:sp>
        <p:nvSpPr>
          <p:cNvPr id="3" name="Rectangle 2">
            <a:extLst>
              <a:ext uri="{FF2B5EF4-FFF2-40B4-BE49-F238E27FC236}">
                <a16:creationId xmlns:a16="http://schemas.microsoft.com/office/drawing/2014/main" id="{C45847F0-C683-403E-BE2C-FCF09BA386C9}"/>
              </a:ext>
            </a:extLst>
          </p:cNvPr>
          <p:cNvSpPr>
            <a:spLocks noGrp="1"/>
          </p:cNvSpPr>
          <p:nvPr/>
        </p:nvSpPr>
        <p:spPr>
          <a:xfrm>
            <a:off x="628650" y="1594485"/>
            <a:ext cx="4762500" cy="428625"/>
          </a:xfrm>
          <a:prstGeom prst="rect">
            <a:avLst/>
          </a:prstGeom>
          <a:noFill/>
          <a:ln w="0">
            <a:noFill/>
          </a:ln>
        </p:spPr>
        <p:txBody>
          <a:bodyPr/>
          <a:lstStyle>
            <a:defPPr>
              <a:defRPr sz="2475" b="1">
                <a:solidFill>
                  <a:srgbClr val="183E35"/>
                </a:solidFill>
                <a:latin typeface="Calibri"/>
                <a:ea typeface="Calibri"/>
                <a:cs typeface="Calibri"/>
              </a:defRPr>
            </a:defPPr>
            <a:lvl1pPr>
              <a:defRPr sz="2475" b="1">
                <a:solidFill>
                  <a:srgbClr val="183E35"/>
                </a:solidFill>
                <a:latin typeface="Calibri"/>
                <a:ea typeface="Calibri"/>
                <a:cs typeface="Calibri"/>
              </a:defRPr>
            </a:lvl1pPr>
            <a:lvl2pPr>
              <a:defRPr sz="2475" b="1">
                <a:solidFill>
                  <a:srgbClr val="183E35"/>
                </a:solidFill>
                <a:latin typeface="Calibri"/>
                <a:ea typeface="Calibri"/>
                <a:cs typeface="Calibri"/>
              </a:defRPr>
            </a:lvl2pPr>
            <a:lvl3pPr>
              <a:defRPr sz="2475" b="1">
                <a:solidFill>
                  <a:srgbClr val="183E35"/>
                </a:solidFill>
                <a:latin typeface="Calibri"/>
                <a:ea typeface="Calibri"/>
                <a:cs typeface="Calibri"/>
              </a:defRPr>
            </a:lvl3pPr>
            <a:lvl4pPr>
              <a:defRPr sz="2475" b="1">
                <a:solidFill>
                  <a:srgbClr val="183E35"/>
                </a:solidFill>
                <a:latin typeface="Calibri"/>
                <a:ea typeface="Calibri"/>
                <a:cs typeface="Calibri"/>
              </a:defRPr>
            </a:lvl4pPr>
            <a:lvl5pPr>
              <a:defRPr sz="2475" b="1">
                <a:solidFill>
                  <a:srgbClr val="183E35"/>
                </a:solidFill>
                <a:latin typeface="Calibri"/>
                <a:ea typeface="Calibri"/>
                <a:cs typeface="Calibri"/>
              </a:defRPr>
            </a:lvl5pPr>
            <a:lvl6pPr>
              <a:defRPr sz="2475" b="1">
                <a:solidFill>
                  <a:srgbClr val="183E35"/>
                </a:solidFill>
                <a:latin typeface="Calibri"/>
                <a:ea typeface="Calibri"/>
                <a:cs typeface="Calibri"/>
              </a:defRPr>
            </a:lvl6pPr>
            <a:lvl7pPr>
              <a:defRPr sz="2475" b="1">
                <a:solidFill>
                  <a:srgbClr val="183E35"/>
                </a:solidFill>
                <a:latin typeface="Calibri"/>
                <a:ea typeface="Calibri"/>
                <a:cs typeface="Calibri"/>
              </a:defRPr>
            </a:lvl7pPr>
            <a:lvl8pPr>
              <a:defRPr sz="2475" b="1">
                <a:solidFill>
                  <a:srgbClr val="183E35"/>
                </a:solidFill>
                <a:latin typeface="Calibri"/>
                <a:ea typeface="Calibri"/>
                <a:cs typeface="Calibri"/>
              </a:defRPr>
            </a:lvl8pPr>
            <a:lvl9pPr>
              <a:defRPr sz="2475" b="1">
                <a:solidFill>
                  <a:srgbClr val="183E35"/>
                </a:solidFill>
                <a:latin typeface="Calibri"/>
                <a:ea typeface="Calibri"/>
                <a:cs typeface="Calibri"/>
              </a:defRPr>
            </a:lvl9pPr>
          </a:lstStyle>
          <a:p>
            <a:pPr>
              <a:defRPr sz="2475" b="1">
                <a:solidFill>
                  <a:srgbClr val="183E35"/>
                </a:solidFill>
                <a:latin typeface="Calibri"/>
                <a:ea typeface="Calibri"/>
                <a:cs typeface="Calibri"/>
              </a:defRPr>
            </a:pPr>
            <a:r>
              <a:rPr sz="2475" b="1">
                <a:solidFill>
                  <a:srgbClr val="183E35"/>
                </a:solidFill>
                <a:latin typeface="Calibri"/>
                <a:ea typeface="Calibri"/>
                <a:cs typeface="Calibri"/>
              </a:rPr>
              <a:t>TaiKhoan</a:t>
            </a:r>
          </a:p>
        </p:txBody>
      </p:sp>
      <p:sp>
        <p:nvSpPr>
          <p:cNvPr id="4" name="Rectangle 3">
            <a:extLst>
              <a:ext uri="{FF2B5EF4-FFF2-40B4-BE49-F238E27FC236}">
                <a16:creationId xmlns:a16="http://schemas.microsoft.com/office/drawing/2014/main" id="{4319FFD1-E08F-4A4B-89D6-447A7EE09BCA}"/>
              </a:ext>
            </a:extLst>
          </p:cNvPr>
          <p:cNvSpPr>
            <a:spLocks noGrp="1"/>
          </p:cNvSpPr>
          <p:nvPr/>
        </p:nvSpPr>
        <p:spPr>
          <a:xfrm>
            <a:off x="666750" y="2358009"/>
            <a:ext cx="4956810" cy="2996565"/>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MaTaiKhoan: int, primary key, tự tăng</a:t>
            </a:r>
          </a:p>
          <a:p>
            <a:pPr>
              <a:defRPr sz="2250" b="0">
                <a:solidFill>
                  <a:srgbClr val="192E29"/>
                </a:solidFill>
                <a:latin typeface="Calibri"/>
                <a:ea typeface="Calibri"/>
                <a:cs typeface="Calibri"/>
              </a:defRPr>
            </a:pPr>
            <a:r>
              <a:rPr sz="2400" b="0">
                <a:solidFill>
                  <a:srgbClr val="192E29"/>
                </a:solidFill>
                <a:latin typeface="Calibri"/>
                <a:ea typeface="Calibri"/>
                <a:cs typeface="Calibri"/>
              </a:rPr>
              <a:t>T</a:t>
            </a:r>
            <a:r>
              <a:rPr lang="vi-VN" sz="2400" b="0">
                <a:solidFill>
                  <a:srgbClr val="192E29"/>
                </a:solidFill>
                <a:latin typeface="Calibri"/>
                <a:ea typeface="Calibri"/>
                <a:cs typeface="Calibri"/>
              </a:rPr>
              <a:t>enDangNhap: string(50)</a:t>
            </a:r>
            <a:endParaRPr lang="vi-VN" sz="2400"/>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MatKhau: string(250)</a:t>
            </a:r>
            <a:endParaRPr lang="vi-VN" sz="2400"/>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HoTen: string(250)</a:t>
            </a: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Email: string(50)</a:t>
            </a:r>
            <a:endParaRPr sz="2400" b="0">
              <a:solidFill>
                <a:srgbClr val="192E29"/>
              </a:solidFill>
              <a:latin typeface="Calibri"/>
              <a:ea typeface="Calibri"/>
              <a:cs typeface="Calibri"/>
            </a:endParaRP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VaiTro: int</a:t>
            </a: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TrangThai: boolean</a:t>
            </a:r>
            <a:endParaRPr sz="2400" b="0">
              <a:solidFill>
                <a:srgbClr val="192E29"/>
              </a:solidFill>
              <a:latin typeface="Calibri"/>
              <a:ea typeface="Calibri"/>
              <a:cs typeface="Calibri"/>
            </a:endParaRPr>
          </a:p>
        </p:txBody>
      </p:sp>
      <p:sp>
        <p:nvSpPr>
          <p:cNvPr id="5" name="Rectangle 4">
            <a:extLst>
              <a:ext uri="{FF2B5EF4-FFF2-40B4-BE49-F238E27FC236}">
                <a16:creationId xmlns:a16="http://schemas.microsoft.com/office/drawing/2014/main" id="{06011A21-4D34-4C8A-AB6F-FD8A4010288E}"/>
              </a:ext>
            </a:extLst>
          </p:cNvPr>
          <p:cNvSpPr>
            <a:spLocks noGrp="1"/>
          </p:cNvSpPr>
          <p:nvPr/>
        </p:nvSpPr>
        <p:spPr>
          <a:xfrm>
            <a:off x="6334125" y="1594485"/>
            <a:ext cx="4762500" cy="428625"/>
          </a:xfrm>
          <a:prstGeom prst="rect">
            <a:avLst/>
          </a:prstGeom>
          <a:noFill/>
          <a:ln w="0">
            <a:noFill/>
          </a:ln>
        </p:spPr>
        <p:txBody>
          <a:bodyPr/>
          <a:lstStyle>
            <a:defPPr>
              <a:defRPr sz="2475" b="1">
                <a:solidFill>
                  <a:srgbClr val="183E35"/>
                </a:solidFill>
                <a:latin typeface="Calibri"/>
                <a:ea typeface="Calibri"/>
                <a:cs typeface="Calibri"/>
              </a:defRPr>
            </a:defPPr>
            <a:lvl1pPr>
              <a:defRPr sz="2475" b="1">
                <a:solidFill>
                  <a:srgbClr val="183E35"/>
                </a:solidFill>
                <a:latin typeface="Calibri"/>
                <a:ea typeface="Calibri"/>
                <a:cs typeface="Calibri"/>
              </a:defRPr>
            </a:lvl1pPr>
            <a:lvl2pPr>
              <a:defRPr sz="2475" b="1">
                <a:solidFill>
                  <a:srgbClr val="183E35"/>
                </a:solidFill>
                <a:latin typeface="Calibri"/>
                <a:ea typeface="Calibri"/>
                <a:cs typeface="Calibri"/>
              </a:defRPr>
            </a:lvl2pPr>
            <a:lvl3pPr>
              <a:defRPr sz="2475" b="1">
                <a:solidFill>
                  <a:srgbClr val="183E35"/>
                </a:solidFill>
                <a:latin typeface="Calibri"/>
                <a:ea typeface="Calibri"/>
                <a:cs typeface="Calibri"/>
              </a:defRPr>
            </a:lvl3pPr>
            <a:lvl4pPr>
              <a:defRPr sz="2475" b="1">
                <a:solidFill>
                  <a:srgbClr val="183E35"/>
                </a:solidFill>
                <a:latin typeface="Calibri"/>
                <a:ea typeface="Calibri"/>
                <a:cs typeface="Calibri"/>
              </a:defRPr>
            </a:lvl4pPr>
            <a:lvl5pPr>
              <a:defRPr sz="2475" b="1">
                <a:solidFill>
                  <a:srgbClr val="183E35"/>
                </a:solidFill>
                <a:latin typeface="Calibri"/>
                <a:ea typeface="Calibri"/>
                <a:cs typeface="Calibri"/>
              </a:defRPr>
            </a:lvl5pPr>
            <a:lvl6pPr>
              <a:defRPr sz="2475" b="1">
                <a:solidFill>
                  <a:srgbClr val="183E35"/>
                </a:solidFill>
                <a:latin typeface="Calibri"/>
                <a:ea typeface="Calibri"/>
                <a:cs typeface="Calibri"/>
              </a:defRPr>
            </a:lvl6pPr>
            <a:lvl7pPr>
              <a:defRPr sz="2475" b="1">
                <a:solidFill>
                  <a:srgbClr val="183E35"/>
                </a:solidFill>
                <a:latin typeface="Calibri"/>
                <a:ea typeface="Calibri"/>
                <a:cs typeface="Calibri"/>
              </a:defRPr>
            </a:lvl7pPr>
            <a:lvl8pPr>
              <a:defRPr sz="2475" b="1">
                <a:solidFill>
                  <a:srgbClr val="183E35"/>
                </a:solidFill>
                <a:latin typeface="Calibri"/>
                <a:ea typeface="Calibri"/>
                <a:cs typeface="Calibri"/>
              </a:defRPr>
            </a:lvl8pPr>
            <a:lvl9pPr>
              <a:defRPr sz="2475" b="1">
                <a:solidFill>
                  <a:srgbClr val="183E35"/>
                </a:solidFill>
                <a:latin typeface="Calibri"/>
                <a:ea typeface="Calibri"/>
                <a:cs typeface="Calibri"/>
              </a:defRPr>
            </a:lvl9pPr>
          </a:lstStyle>
          <a:p>
            <a:pPr>
              <a:defRPr sz="2475" b="1">
                <a:solidFill>
                  <a:srgbClr val="183E35"/>
                </a:solidFill>
                <a:latin typeface="Calibri"/>
                <a:ea typeface="Calibri"/>
                <a:cs typeface="Calibri"/>
              </a:defRPr>
            </a:pPr>
            <a:r>
              <a:rPr sz="2475" b="1">
                <a:solidFill>
                  <a:srgbClr val="183E35"/>
                </a:solidFill>
                <a:latin typeface="Calibri"/>
                <a:ea typeface="Calibri"/>
                <a:cs typeface="Calibri"/>
              </a:rPr>
              <a:t>LoaiBan</a:t>
            </a:r>
          </a:p>
        </p:txBody>
      </p:sp>
      <p:sp>
        <p:nvSpPr>
          <p:cNvPr id="6" name="Rectangle 5">
            <a:extLst>
              <a:ext uri="{FF2B5EF4-FFF2-40B4-BE49-F238E27FC236}">
                <a16:creationId xmlns:a16="http://schemas.microsoft.com/office/drawing/2014/main" id="{F7DED8EB-0171-4BEB-957A-B6232110A446}"/>
              </a:ext>
            </a:extLst>
          </p:cNvPr>
          <p:cNvSpPr>
            <a:spLocks noGrp="1"/>
          </p:cNvSpPr>
          <p:nvPr/>
        </p:nvSpPr>
        <p:spPr>
          <a:xfrm>
            <a:off x="6191250" y="2356485"/>
            <a:ext cx="5143500" cy="2996565"/>
          </a:xfrm>
          <a:prstGeom prst="rect">
            <a:avLst/>
          </a:prstGeom>
          <a:noFill/>
          <a:ln w="0">
            <a:noFill/>
          </a:ln>
        </p:spPr>
        <p:txBody>
          <a:bodyPr/>
          <a:lstStyle>
            <a:defPPr>
              <a:defRPr sz="2100" b="0">
                <a:solidFill>
                  <a:srgbClr val="192E29"/>
                </a:solidFill>
                <a:latin typeface="Calibri"/>
                <a:ea typeface="Calibri"/>
                <a:cs typeface="Calibri"/>
              </a:defRPr>
            </a:defPPr>
            <a:lvl1pPr>
              <a:defRPr sz="2100" b="0">
                <a:solidFill>
                  <a:srgbClr val="192E29"/>
                </a:solidFill>
                <a:latin typeface="Calibri"/>
                <a:ea typeface="Calibri"/>
                <a:cs typeface="Calibri"/>
              </a:defRPr>
            </a:lvl1pPr>
            <a:lvl2pPr>
              <a:defRPr sz="2100" b="0">
                <a:solidFill>
                  <a:srgbClr val="192E29"/>
                </a:solidFill>
                <a:latin typeface="Calibri"/>
                <a:ea typeface="Calibri"/>
                <a:cs typeface="Calibri"/>
              </a:defRPr>
            </a:lvl2pPr>
            <a:lvl3pPr>
              <a:defRPr sz="2100" b="0">
                <a:solidFill>
                  <a:srgbClr val="192E29"/>
                </a:solidFill>
                <a:latin typeface="Calibri"/>
                <a:ea typeface="Calibri"/>
                <a:cs typeface="Calibri"/>
              </a:defRPr>
            </a:lvl3pPr>
            <a:lvl4pPr>
              <a:defRPr sz="2100" b="0">
                <a:solidFill>
                  <a:srgbClr val="192E29"/>
                </a:solidFill>
                <a:latin typeface="Calibri"/>
                <a:ea typeface="Calibri"/>
                <a:cs typeface="Calibri"/>
              </a:defRPr>
            </a:lvl4pPr>
            <a:lvl5pPr>
              <a:defRPr sz="2100" b="0">
                <a:solidFill>
                  <a:srgbClr val="192E29"/>
                </a:solidFill>
                <a:latin typeface="Calibri"/>
                <a:ea typeface="Calibri"/>
                <a:cs typeface="Calibri"/>
              </a:defRPr>
            </a:lvl5pPr>
            <a:lvl6pPr>
              <a:defRPr sz="2100" b="0">
                <a:solidFill>
                  <a:srgbClr val="192E29"/>
                </a:solidFill>
                <a:latin typeface="Calibri"/>
                <a:ea typeface="Calibri"/>
                <a:cs typeface="Calibri"/>
              </a:defRPr>
            </a:lvl6pPr>
            <a:lvl7pPr>
              <a:defRPr sz="2100" b="0">
                <a:solidFill>
                  <a:srgbClr val="192E29"/>
                </a:solidFill>
                <a:latin typeface="Calibri"/>
                <a:ea typeface="Calibri"/>
                <a:cs typeface="Calibri"/>
              </a:defRPr>
            </a:lvl7pPr>
            <a:lvl8pPr>
              <a:defRPr sz="2100" b="0">
                <a:solidFill>
                  <a:srgbClr val="192E29"/>
                </a:solidFill>
                <a:latin typeface="Calibri"/>
                <a:ea typeface="Calibri"/>
                <a:cs typeface="Calibri"/>
              </a:defRPr>
            </a:lvl8pPr>
            <a:lvl9pPr>
              <a:defRPr sz="2100" b="0">
                <a:solidFill>
                  <a:srgbClr val="192E29"/>
                </a:solidFill>
                <a:latin typeface="Calibri"/>
                <a:ea typeface="Calibri"/>
                <a:cs typeface="Calibri"/>
              </a:defRPr>
            </a:lvl9pPr>
          </a:lstStyle>
          <a:p>
            <a:pPr>
              <a:defRPr sz="2100" b="0">
                <a:solidFill>
                  <a:srgbClr val="192E29"/>
                </a:solidFill>
                <a:latin typeface="Calibri"/>
                <a:ea typeface="Calibri"/>
                <a:cs typeface="Calibri"/>
              </a:defRPr>
            </a:pPr>
            <a:r>
              <a:rPr sz="2400" b="0">
                <a:solidFill>
                  <a:srgbClr val="192E29"/>
                </a:solidFill>
                <a:latin typeface="Calibri"/>
                <a:ea typeface="Calibri"/>
                <a:cs typeface="Calibri"/>
              </a:rPr>
              <a:t>MaLoaiBan:</a:t>
            </a:r>
            <a:r>
              <a:rPr lang="vi-VN" sz="2400" b="0">
                <a:solidFill>
                  <a:srgbClr val="192E29"/>
                </a:solidFill>
                <a:latin typeface="Calibri"/>
                <a:ea typeface="Calibri"/>
                <a:cs typeface="Calibri"/>
              </a:rPr>
              <a:t> int, primary key, tự tăng</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TenLoaiBan: </a:t>
            </a:r>
            <a:r>
              <a:rPr lang="vi-VN" sz="2400"/>
              <a:t>string(100)</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MoTa: </a:t>
            </a:r>
            <a:r>
              <a:rPr lang="vi-VN" sz="2400" b="0">
                <a:solidFill>
                  <a:srgbClr val="192E29"/>
                </a:solidFill>
                <a:latin typeface="Calibri"/>
                <a:ea typeface="Calibri"/>
                <a:cs typeface="Calibri"/>
              </a:rPr>
              <a:t>string(500)</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TrangThai: </a:t>
            </a:r>
            <a:r>
              <a:rPr lang="vi-VN" sz="2400" b="0">
                <a:solidFill>
                  <a:srgbClr val="192E29"/>
                </a:solidFill>
                <a:latin typeface="Calibri"/>
                <a:ea typeface="Calibri"/>
                <a:cs typeface="Calibri"/>
              </a:rPr>
              <a:t>boolean</a:t>
            </a:r>
            <a:endParaRPr sz="2400" b="0">
              <a:solidFill>
                <a:srgbClr val="192E29"/>
              </a:solidFill>
              <a:latin typeface="Calibri"/>
              <a:ea typeface="Calibri"/>
              <a:cs typeface="Calibri"/>
            </a:endParaRPr>
          </a:p>
        </p:txBody>
      </p:sp>
      <p:cxnSp>
        <p:nvCxnSpPr>
          <p:cNvPr id="10" name="Straight Connector 9">
            <a:extLst>
              <a:ext uri="{FF2B5EF4-FFF2-40B4-BE49-F238E27FC236}">
                <a16:creationId xmlns:a16="http://schemas.microsoft.com/office/drawing/2014/main" id="{919444DD-B8F6-2995-2712-CE59A55A8051}"/>
              </a:ext>
            </a:extLst>
          </p:cNvPr>
          <p:cNvCxnSpPr>
            <a:cxnSpLocks/>
          </p:cNvCxnSpPr>
          <p:nvPr/>
        </p:nvCxnSpPr>
        <p:spPr>
          <a:xfrm>
            <a:off x="666750" y="1467231"/>
            <a:ext cx="0" cy="4065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3A44F2-F071-F32E-65A2-C7C71AB8DE6C}"/>
              </a:ext>
            </a:extLst>
          </p:cNvPr>
          <p:cNvCxnSpPr/>
          <p:nvPr/>
        </p:nvCxnSpPr>
        <p:spPr>
          <a:xfrm>
            <a:off x="609600" y="5532882"/>
            <a:ext cx="110947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0B59BD-34BF-4116-FFF1-C451EB944340}"/>
              </a:ext>
            </a:extLst>
          </p:cNvPr>
          <p:cNvCxnSpPr>
            <a:cxnSpLocks/>
          </p:cNvCxnSpPr>
          <p:nvPr/>
        </p:nvCxnSpPr>
        <p:spPr>
          <a:xfrm flipH="1" flipV="1">
            <a:off x="11607546" y="1467230"/>
            <a:ext cx="57150" cy="4065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71F36DD-E75B-4863-CA64-69EEEC11CFEA}"/>
              </a:ext>
            </a:extLst>
          </p:cNvPr>
          <p:cNvCxnSpPr>
            <a:cxnSpLocks/>
          </p:cNvCxnSpPr>
          <p:nvPr/>
        </p:nvCxnSpPr>
        <p:spPr>
          <a:xfrm flipH="1">
            <a:off x="666750" y="1467231"/>
            <a:ext cx="109537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D2BFF3E-BC74-6006-151D-BB114FFD58D5}"/>
              </a:ext>
            </a:extLst>
          </p:cNvPr>
          <p:cNvCxnSpPr/>
          <p:nvPr/>
        </p:nvCxnSpPr>
        <p:spPr>
          <a:xfrm>
            <a:off x="5788152" y="1467231"/>
            <a:ext cx="0" cy="406565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0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05215618-DE76-F891-9E45-9D9B0CE35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62F8EF-5D5C-1DBA-344B-912F45C96103}"/>
              </a:ext>
            </a:extLst>
          </p:cNvPr>
          <p:cNvSpPr txBox="1"/>
          <p:nvPr/>
        </p:nvSpPr>
        <p:spPr>
          <a:xfrm>
            <a:off x="137160" y="210312"/>
            <a:ext cx="1161288" cy="369332"/>
          </a:xfrm>
          <a:prstGeom prst="rect">
            <a:avLst/>
          </a:prstGeom>
          <a:noFill/>
        </p:spPr>
        <p:txBody>
          <a:bodyPr wrap="square" rtlCol="0">
            <a:spAutoFit/>
          </a:bodyPr>
          <a:lstStyle/>
          <a:p>
            <a:r>
              <a:rPr lang="vi-VN"/>
              <a:t>DTO</a:t>
            </a:r>
            <a:endParaRPr lang="en-US"/>
          </a:p>
        </p:txBody>
      </p:sp>
      <p:sp>
        <p:nvSpPr>
          <p:cNvPr id="7" name="TextBox 6">
            <a:extLst>
              <a:ext uri="{FF2B5EF4-FFF2-40B4-BE49-F238E27FC236}">
                <a16:creationId xmlns:a16="http://schemas.microsoft.com/office/drawing/2014/main" id="{00118D77-A266-A2EE-E6C9-05E251A68986}"/>
              </a:ext>
            </a:extLst>
          </p:cNvPr>
          <p:cNvSpPr txBox="1"/>
          <p:nvPr/>
        </p:nvSpPr>
        <p:spPr>
          <a:xfrm>
            <a:off x="137160" y="1039528"/>
            <a:ext cx="11932920" cy="369332"/>
          </a:xfrm>
          <a:prstGeom prst="rect">
            <a:avLst/>
          </a:prstGeom>
          <a:noFill/>
        </p:spPr>
        <p:txBody>
          <a:bodyPr wrap="square" rtlCol="0">
            <a:spAutoFit/>
          </a:bodyPr>
          <a:lstStyle/>
          <a:p>
            <a:r>
              <a:rPr lang="vi-VN"/>
              <a:t>DTO (Data To Object) là biến dữ liệu thành 1 đối tượng để dễ dàng thao tác, quản lí request và response</a:t>
            </a:r>
            <a:endParaRPr lang="en-US"/>
          </a:p>
        </p:txBody>
      </p:sp>
      <p:graphicFrame>
        <p:nvGraphicFramePr>
          <p:cNvPr id="9" name="Table 8">
            <a:extLst>
              <a:ext uri="{FF2B5EF4-FFF2-40B4-BE49-F238E27FC236}">
                <a16:creationId xmlns:a16="http://schemas.microsoft.com/office/drawing/2014/main" id="{359B0875-4E9D-B4BE-E089-6ED80E0A54AE}"/>
              </a:ext>
            </a:extLst>
          </p:cNvPr>
          <p:cNvGraphicFramePr>
            <a:graphicFrameLocks noGrp="1"/>
          </p:cNvGraphicFramePr>
          <p:nvPr>
            <p:extLst>
              <p:ext uri="{D42A27DB-BD31-4B8C-83A1-F6EECF244321}">
                <p14:modId xmlns:p14="http://schemas.microsoft.com/office/powerpoint/2010/main" val="473955417"/>
              </p:ext>
            </p:extLst>
          </p:nvPr>
        </p:nvGraphicFramePr>
        <p:xfrm>
          <a:off x="137159" y="1728721"/>
          <a:ext cx="11932920" cy="4672473"/>
        </p:xfrm>
        <a:graphic>
          <a:graphicData uri="http://schemas.openxmlformats.org/drawingml/2006/table">
            <a:tbl>
              <a:tblPr firstRow="1" bandRow="1">
                <a:tableStyleId>{5940675A-B579-460E-94D1-54222C63F5DA}</a:tableStyleId>
              </a:tblPr>
              <a:tblGrid>
                <a:gridCol w="5966460">
                  <a:extLst>
                    <a:ext uri="{9D8B030D-6E8A-4147-A177-3AD203B41FA5}">
                      <a16:colId xmlns:a16="http://schemas.microsoft.com/office/drawing/2014/main" val="3182418960"/>
                    </a:ext>
                  </a:extLst>
                </a:gridCol>
                <a:gridCol w="5966460">
                  <a:extLst>
                    <a:ext uri="{9D8B030D-6E8A-4147-A177-3AD203B41FA5}">
                      <a16:colId xmlns:a16="http://schemas.microsoft.com/office/drawing/2014/main" val="2831914136"/>
                    </a:ext>
                  </a:extLst>
                </a:gridCol>
              </a:tblGrid>
              <a:tr h="765011">
                <a:tc>
                  <a:txBody>
                    <a:bodyPr/>
                    <a:lstStyle/>
                    <a:p>
                      <a:pPr algn="ctr"/>
                      <a:r>
                        <a:rPr lang="vi-VN" sz="2000" b="1"/>
                        <a:t>Class</a:t>
                      </a:r>
                    </a:p>
                  </a:txBody>
                  <a:tcPr anchor="ctr"/>
                </a:tc>
                <a:tc>
                  <a:txBody>
                    <a:bodyPr/>
                    <a:lstStyle/>
                    <a:p>
                      <a:pPr algn="ctr"/>
                      <a:r>
                        <a:rPr lang="vi-VN" sz="2000" b="1"/>
                        <a:t>Trách nhiệm</a:t>
                      </a:r>
                      <a:endParaRPr lang="en-US" sz="2000" b="1"/>
                    </a:p>
                  </a:txBody>
                  <a:tcPr anchor="ctr"/>
                </a:tc>
                <a:extLst>
                  <a:ext uri="{0D108BD9-81ED-4DB2-BD59-A6C34878D82A}">
                    <a16:rowId xmlns:a16="http://schemas.microsoft.com/office/drawing/2014/main" val="3372287576"/>
                  </a:ext>
                </a:extLst>
              </a:tr>
              <a:tr h="765011">
                <a:tc>
                  <a:txBody>
                    <a:bodyPr/>
                    <a:lstStyle/>
                    <a:p>
                      <a:pPr algn="ctr"/>
                      <a:r>
                        <a:rPr lang="vi-VN"/>
                        <a:t>TaiKhoanRequest.cs</a:t>
                      </a:r>
                      <a:endParaRPr lang="en-US"/>
                    </a:p>
                  </a:txBody>
                  <a:tcPr anchor="ctr"/>
                </a:tc>
                <a:tc>
                  <a:txBody>
                    <a:bodyPr/>
                    <a:lstStyle/>
                    <a:p>
                      <a:r>
                        <a:rPr lang="vi-VN"/>
                        <a:t>Lưu trữ thông tin request được gửi từ form đăng nhập, đăng kí</a:t>
                      </a:r>
                      <a:endParaRPr lang="en-US"/>
                    </a:p>
                  </a:txBody>
                  <a:tcPr/>
                </a:tc>
                <a:extLst>
                  <a:ext uri="{0D108BD9-81ED-4DB2-BD59-A6C34878D82A}">
                    <a16:rowId xmlns:a16="http://schemas.microsoft.com/office/drawing/2014/main" val="3120327440"/>
                  </a:ext>
                </a:extLst>
              </a:tr>
              <a:tr h="76501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vi-VN"/>
                        <a:t>TaiKhoanResponse.cs</a:t>
                      </a:r>
                      <a:endParaRPr lang="en-US"/>
                    </a:p>
                  </a:txBody>
                  <a:tcPr anchor="ctr"/>
                </a:tc>
                <a:tc>
                  <a:txBody>
                    <a:bodyPr/>
                    <a:lstStyle/>
                    <a:p>
                      <a:r>
                        <a:rPr lang="vi-VN"/>
                        <a:t>Quyết định dữ liệu nào từ Entity TaiKhoan sẽ được trả về cho client, kèm thêm các thuộc tính bổ sung như :</a:t>
                      </a:r>
                    </a:p>
                    <a:p>
                      <a:pPr marL="0" marR="0" lvl="0" indent="0" algn="l" defTabSz="914400" eaLnBrk="1" fontAlgn="auto" latinLnBrk="0" hangingPunct="1">
                        <a:lnSpc>
                          <a:spcPct val="100000"/>
                        </a:lnSpc>
                        <a:spcBef>
                          <a:spcPts val="0"/>
                        </a:spcBef>
                        <a:spcAft>
                          <a:spcPts val="0"/>
                        </a:spcAft>
                        <a:buClrTx/>
                        <a:buSzTx/>
                        <a:buFontTx/>
                        <a:buNone/>
                        <a:tabLst/>
                        <a:defRPr/>
                      </a:pPr>
                      <a:r>
                        <a:rPr lang="vi-VN"/>
                        <a:t>-string </a:t>
                      </a:r>
                      <a:r>
                        <a:rPr lang="vi-VN" sz="1800" b="0">
                          <a:solidFill>
                            <a:schemeClr val="dk1"/>
                          </a:solidFill>
                          <a:effectLst/>
                        </a:rPr>
                        <a:t>message: Tin nhắn trả về</a:t>
                      </a:r>
                      <a:endParaRPr lang="en-US" sz="1800" b="0">
                        <a:solidFill>
                          <a:schemeClr val="dk1"/>
                        </a:solidFill>
                        <a:effectLst/>
                        <a:latin typeface="+mn-lt"/>
                        <a:ea typeface="+mn-ea"/>
                        <a:cs typeface="+mn-cs"/>
                      </a:endParaRPr>
                    </a:p>
                  </a:txBody>
                  <a:tcPr/>
                </a:tc>
                <a:extLst>
                  <a:ext uri="{0D108BD9-81ED-4DB2-BD59-A6C34878D82A}">
                    <a16:rowId xmlns:a16="http://schemas.microsoft.com/office/drawing/2014/main" val="1792177602"/>
                  </a:ext>
                </a:extLst>
              </a:tr>
              <a:tr h="765011">
                <a:tc>
                  <a:txBody>
                    <a:bodyPr/>
                    <a:lstStyle/>
                    <a:p>
                      <a:pPr algn="ctr"/>
                      <a:r>
                        <a:rPr lang="en-US"/>
                        <a:t>LoaiBanRequest.cs</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vi-VN"/>
                        <a:t>Lưu trữ thông tin request được gửi từ form LoaiBan (Thêm, Sửa)</a:t>
                      </a:r>
                      <a:endParaRPr lang="en-US"/>
                    </a:p>
                  </a:txBody>
                  <a:tcPr/>
                </a:tc>
                <a:extLst>
                  <a:ext uri="{0D108BD9-81ED-4DB2-BD59-A6C34878D82A}">
                    <a16:rowId xmlns:a16="http://schemas.microsoft.com/office/drawing/2014/main" val="3684461819"/>
                  </a:ext>
                </a:extLst>
              </a:tr>
              <a:tr h="765011">
                <a:tc>
                  <a:txBody>
                    <a:bodyPr/>
                    <a:lstStyle/>
                    <a:p>
                      <a:pPr algn="ctr"/>
                      <a:r>
                        <a:rPr lang="vi-VN"/>
                        <a:t>LoaiBanResponse.cs</a:t>
                      </a:r>
                      <a:endParaRPr lang="en-US"/>
                    </a:p>
                  </a:txBody>
                  <a:tcPr anchor="ctr"/>
                </a:tc>
                <a:tc>
                  <a:txBody>
                    <a:bodyPr/>
                    <a:lstStyle/>
                    <a:p>
                      <a:r>
                        <a:rPr lang="vi-VN"/>
                        <a:t>Quyết định dữ liệu nào từ Entity LoaiBan sẽ được trả về cho client, kèm thêm các thuộc tính bổ sung như :</a:t>
                      </a:r>
                    </a:p>
                    <a:p>
                      <a:pPr marL="0" marR="0" lvl="0" indent="0" algn="l" defTabSz="914400" eaLnBrk="1" fontAlgn="auto" latinLnBrk="0" hangingPunct="1">
                        <a:lnSpc>
                          <a:spcPct val="100000"/>
                        </a:lnSpc>
                        <a:spcBef>
                          <a:spcPts val="0"/>
                        </a:spcBef>
                        <a:spcAft>
                          <a:spcPts val="0"/>
                        </a:spcAft>
                        <a:buClrTx/>
                        <a:buSzTx/>
                        <a:buFontTx/>
                        <a:buNone/>
                        <a:tabLst/>
                        <a:defRPr/>
                      </a:pPr>
                      <a:r>
                        <a:rPr lang="vi-VN"/>
                        <a:t>-string </a:t>
                      </a:r>
                      <a:r>
                        <a:rPr lang="vi-VN" sz="1800" b="0">
                          <a:solidFill>
                            <a:schemeClr val="dk1"/>
                          </a:solidFill>
                          <a:effectLst/>
                        </a:rPr>
                        <a:t>message: Tin nhắn trả về</a:t>
                      </a:r>
                    </a:p>
                    <a:p>
                      <a:pPr marL="0" marR="0" lvl="0" indent="0" algn="l" defTabSz="914400" eaLnBrk="1" fontAlgn="auto" latinLnBrk="0" hangingPunct="1">
                        <a:lnSpc>
                          <a:spcPct val="100000"/>
                        </a:lnSpc>
                        <a:spcBef>
                          <a:spcPts val="0"/>
                        </a:spcBef>
                        <a:spcAft>
                          <a:spcPts val="0"/>
                        </a:spcAft>
                        <a:buClrTx/>
                        <a:buSzTx/>
                        <a:buFontTx/>
                        <a:buNone/>
                        <a:tabLst/>
                        <a:defRPr/>
                      </a:pPr>
                      <a:r>
                        <a:rPr lang="vi-VN" sz="1800" b="0">
                          <a:solidFill>
                            <a:schemeClr val="dk1"/>
                          </a:solidFill>
                          <a:effectLst/>
                        </a:rPr>
                        <a:t>-boolean IsSuccess: Thao tác thành công hay không?</a:t>
                      </a:r>
                      <a:endParaRPr lang="en-US" sz="1800" b="0">
                        <a:solidFill>
                          <a:schemeClr val="dk1"/>
                        </a:solidFill>
                        <a:effectLst/>
                      </a:endParaRPr>
                    </a:p>
                    <a:p>
                      <a:endParaRPr lang="en-US"/>
                    </a:p>
                  </a:txBody>
                  <a:tcPr/>
                </a:tc>
                <a:extLst>
                  <a:ext uri="{0D108BD9-81ED-4DB2-BD59-A6C34878D82A}">
                    <a16:rowId xmlns:a16="http://schemas.microsoft.com/office/drawing/2014/main" val="1717106658"/>
                  </a:ext>
                </a:extLst>
              </a:tr>
            </a:tbl>
          </a:graphicData>
        </a:graphic>
      </p:graphicFrame>
    </p:spTree>
    <p:extLst>
      <p:ext uri="{BB962C8B-B14F-4D97-AF65-F5344CB8AC3E}">
        <p14:creationId xmlns:p14="http://schemas.microsoft.com/office/powerpoint/2010/main" val="3940359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9B230C-2F9C-49BD-B77D-4836047BD980}"/>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Cách request đi qua các lớp</a:t>
            </a:r>
          </a:p>
        </p:txBody>
      </p:sp>
      <p:sp>
        <p:nvSpPr>
          <p:cNvPr id="2" name="Rectangle 1">
            <a:extLst>
              <a:ext uri="{FF2B5EF4-FFF2-40B4-BE49-F238E27FC236}">
                <a16:creationId xmlns:a16="http://schemas.microsoft.com/office/drawing/2014/main" id="{301A0D98-A4DB-4B53-A2D4-794649512A7C}"/>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03 / 10</a:t>
            </a:r>
          </a:p>
        </p:txBody>
      </p:sp>
      <p:graphicFrame>
        <p:nvGraphicFramePr>
          <p:cNvPr id="3" name="Table 2">
            <a:extLst>
              <a:ext uri="{FF2B5EF4-FFF2-40B4-BE49-F238E27FC236}">
                <a16:creationId xmlns:a16="http://schemas.microsoft.com/office/drawing/2014/main" id="{78EABC4B-023A-45AC-B101-08D9C232FA90}"/>
              </a:ext>
            </a:extLst>
          </p:cNvPr>
          <p:cNvGraphicFramePr/>
          <p:nvPr>
            <p:extLst>
              <p:ext uri="{D42A27DB-BD31-4B8C-83A1-F6EECF244321}">
                <p14:modId xmlns:p14="http://schemas.microsoft.com/office/powerpoint/2010/main" val="18476041"/>
              </p:ext>
            </p:extLst>
          </p:nvPr>
        </p:nvGraphicFramePr>
        <p:xfrm>
          <a:off x="666750" y="1666875"/>
          <a:ext cx="10763250" cy="3095625"/>
        </p:xfrm>
        <a:graphic>
          <a:graphicData uri="http://schemas.openxmlformats.org/drawingml/2006/table">
            <a:tbl>
              <a:tblPr>
                <a:tableStyleId>{2D5ABB26-0587-4C30-8999-92F81FD0307C}</a:tableStyleId>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pPr algn="ctr"/>
                      <a:r>
                        <a:rPr sz="1800" b="1">
                          <a:solidFill>
                            <a:schemeClr val="tx1"/>
                          </a:solidFill>
                        </a:rPr>
                        <a:t>Lớp</a:t>
                      </a:r>
                      <a:endParaRPr sz="1800" b="1">
                        <a:solidFill>
                          <a:schemeClr val="tx1"/>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800" b="1">
                          <a:solidFill>
                            <a:schemeClr val="tx1"/>
                          </a:solidFill>
                        </a:rPr>
                        <a:t>Trách nhiệm</a:t>
                      </a:r>
                      <a:endParaRPr sz="1800" b="1">
                        <a:solidFill>
                          <a:schemeClr val="tx1"/>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19125">
                <a:tc>
                  <a:txBody>
                    <a:bodyPr/>
                    <a:lstStyle/>
                    <a:p>
                      <a:r>
                        <a:rPr sz="1800" b="0">
                          <a:solidFill>
                            <a:srgbClr val="192E29"/>
                          </a:solidFill>
                        </a:rPr>
                        <a:t>Razor View / Controller</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Gửi form, nhận DTO, kiểm tra quyền và ModelState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19125">
                <a:tc>
                  <a:txBody>
                    <a:bodyPr/>
                    <a:lstStyle/>
                    <a:p>
                      <a:r>
                        <a:rPr sz="1800" b="0">
                          <a:solidFill>
                            <a:srgbClr val="192E29"/>
                          </a:solidFill>
                        </a:rPr>
                        <a:t>Service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Kiểm tra nghiệp vụ, chuẩn bị kết quả xử lý</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9125">
                <a:tc>
                  <a:txBody>
                    <a:bodyPr/>
                    <a:lstStyle/>
                    <a:p>
                      <a:r>
                        <a:rPr sz="1800" b="0">
                          <a:solidFill>
                            <a:srgbClr val="192E29"/>
                          </a:solidFill>
                        </a:rPr>
                        <a:t>Repository / DbContext</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Truy vấn và lưu dữ liệu bằng EF Core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19125">
                <a:tc>
                  <a:txBody>
                    <a:bodyPr/>
                    <a:lstStyle/>
                    <a:p>
                      <a:r>
                        <a:rPr sz="1800" b="0">
                          <a:solidFill>
                            <a:srgbClr val="192E29"/>
                          </a:solidFill>
                        </a:rPr>
                        <a:t>SQL Server</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800" b="0">
                          <a:solidFill>
                            <a:srgbClr val="192E29"/>
                          </a:solidFill>
                        </a:rPr>
                        <a:t>Nơi l</a:t>
                      </a:r>
                      <a:r>
                        <a:rPr sz="1800" b="0">
                          <a:solidFill>
                            <a:srgbClr val="192E29"/>
                          </a:solidFill>
                        </a:rPr>
                        <a:t>ưu dữ liệu, bảo vệ khóa chính và khóa ngoại</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DC8A6A37-9898-434B-A6C1-E29AEC2AA686}"/>
              </a:ext>
            </a:extLst>
          </p:cNvPr>
          <p:cNvSpPr>
            <a:spLocks noGrp="1"/>
          </p:cNvSpPr>
          <p:nvPr/>
        </p:nvSpPr>
        <p:spPr>
          <a:xfrm>
            <a:off x="666750" y="5334000"/>
            <a:ext cx="10763250" cy="619125"/>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endParaRPr sz="1875" b="1">
              <a:solidFill>
                <a:srgbClr val="A56B32"/>
              </a:solidFill>
              <a:latin typeface="Calibri"/>
              <a:ea typeface="Calibri"/>
              <a:cs typeface="Calibri"/>
            </a:endParaRPr>
          </a:p>
        </p:txBody>
      </p:sp>
    </p:spTree>
    <p:extLst>
      <p:ext uri="{BB962C8B-B14F-4D97-AF65-F5344CB8AC3E}">
        <p14:creationId xmlns:p14="http://schemas.microsoft.com/office/powerpoint/2010/main" val="682637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1D0EF82-FEFE-4409-A54B-DA5A42951214}"/>
              </a:ext>
            </a:extLst>
          </p:cNvPr>
          <p:cNvSpPr>
            <a:spLocks noGrp="1"/>
          </p:cNvSpPr>
          <p:nvPr/>
        </p:nvSpPr>
        <p:spPr>
          <a:xfrm>
            <a:off x="0" y="0"/>
            <a:ext cx="10953750" cy="619125"/>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Đăng ký tài khoản</a:t>
            </a:r>
          </a:p>
        </p:txBody>
      </p:sp>
      <p:sp>
        <p:nvSpPr>
          <p:cNvPr id="3" name="Rectangle 2">
            <a:extLst>
              <a:ext uri="{FF2B5EF4-FFF2-40B4-BE49-F238E27FC236}">
                <a16:creationId xmlns:a16="http://schemas.microsoft.com/office/drawing/2014/main" id="{0D606D43-C52C-42B3-8F9A-6F72F8E82EC3}"/>
              </a:ext>
            </a:extLst>
          </p:cNvPr>
          <p:cNvSpPr>
            <a:spLocks noGrp="1"/>
          </p:cNvSpPr>
          <p:nvPr/>
        </p:nvSpPr>
        <p:spPr>
          <a:xfrm>
            <a:off x="666750" y="16668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01</a:t>
            </a:r>
          </a:p>
        </p:txBody>
      </p:sp>
      <p:sp>
        <p:nvSpPr>
          <p:cNvPr id="4" name="Rectangle 3">
            <a:extLst>
              <a:ext uri="{FF2B5EF4-FFF2-40B4-BE49-F238E27FC236}">
                <a16:creationId xmlns:a16="http://schemas.microsoft.com/office/drawing/2014/main" id="{26901624-200B-4DD6-9ED4-940277795F4A}"/>
              </a:ext>
            </a:extLst>
          </p:cNvPr>
          <p:cNvSpPr>
            <a:spLocks noGrp="1"/>
          </p:cNvSpPr>
          <p:nvPr/>
        </p:nvSpPr>
        <p:spPr>
          <a:xfrm>
            <a:off x="1571625" y="16668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Kiểm tra dữ liệu</a:t>
            </a:r>
          </a:p>
        </p:txBody>
      </p:sp>
      <p:sp>
        <p:nvSpPr>
          <p:cNvPr id="5" name="Rectangle 4">
            <a:extLst>
              <a:ext uri="{FF2B5EF4-FFF2-40B4-BE49-F238E27FC236}">
                <a16:creationId xmlns:a16="http://schemas.microsoft.com/office/drawing/2014/main" id="{61368FDD-E96D-4695-8A54-BA41F3E8408E}"/>
              </a:ext>
            </a:extLst>
          </p:cNvPr>
          <p:cNvSpPr>
            <a:spLocks noGrp="1"/>
          </p:cNvSpPr>
          <p:nvPr/>
        </p:nvSpPr>
        <p:spPr>
          <a:xfrm>
            <a:off x="1571625" y="21336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Trường bắt buộc, email, mật khẩu xác nhận và tên đăng nhập trùng.</a:t>
            </a:r>
          </a:p>
        </p:txBody>
      </p:sp>
      <p:sp>
        <p:nvSpPr>
          <p:cNvPr id="6" name="Rectangle 5">
            <a:extLst>
              <a:ext uri="{FF2B5EF4-FFF2-40B4-BE49-F238E27FC236}">
                <a16:creationId xmlns:a16="http://schemas.microsoft.com/office/drawing/2014/main" id="{F7CB2AF7-7EC7-47E4-87BD-C67DADE9C618}"/>
              </a:ext>
            </a:extLst>
          </p:cNvPr>
          <p:cNvSpPr>
            <a:spLocks noGrp="1"/>
          </p:cNvSpPr>
          <p:nvPr/>
        </p:nvSpPr>
        <p:spPr>
          <a:xfrm>
            <a:off x="666750" y="309562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02</a:t>
            </a:r>
          </a:p>
        </p:txBody>
      </p:sp>
      <p:sp>
        <p:nvSpPr>
          <p:cNvPr id="7" name="Rectangle 6">
            <a:extLst>
              <a:ext uri="{FF2B5EF4-FFF2-40B4-BE49-F238E27FC236}">
                <a16:creationId xmlns:a16="http://schemas.microsoft.com/office/drawing/2014/main" id="{B68947E9-E70A-4638-B026-751B4AA9399D}"/>
              </a:ext>
            </a:extLst>
          </p:cNvPr>
          <p:cNvSpPr>
            <a:spLocks noGrp="1"/>
          </p:cNvSpPr>
          <p:nvPr/>
        </p:nvSpPr>
        <p:spPr>
          <a:xfrm>
            <a:off x="1571625" y="309562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Tạo tài khoản User</a:t>
            </a:r>
          </a:p>
        </p:txBody>
      </p:sp>
      <p:sp>
        <p:nvSpPr>
          <p:cNvPr id="8" name="Rectangle 7">
            <a:extLst>
              <a:ext uri="{FF2B5EF4-FFF2-40B4-BE49-F238E27FC236}">
                <a16:creationId xmlns:a16="http://schemas.microsoft.com/office/drawing/2014/main" id="{A4A6AC55-3BD8-4F29-B084-689DC303AB3D}"/>
              </a:ext>
            </a:extLst>
          </p:cNvPr>
          <p:cNvSpPr>
            <a:spLocks noGrp="1"/>
          </p:cNvSpPr>
          <p:nvPr/>
        </p:nvSpPr>
        <p:spPr>
          <a:xfrm>
            <a:off x="1571625" y="356235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Gán vai trò</a:t>
            </a:r>
            <a:r>
              <a:rPr lang="vi-VN" sz="1875" b="0">
                <a:solidFill>
                  <a:srgbClr val="54635C"/>
                </a:solidFill>
                <a:latin typeface="Calibri"/>
                <a:ea typeface="Calibri"/>
                <a:cs typeface="Calibri"/>
              </a:rPr>
              <a:t> (Mặc định là User)</a:t>
            </a:r>
            <a:r>
              <a:rPr sz="1875" b="0">
                <a:solidFill>
                  <a:srgbClr val="54635C"/>
                </a:solidFill>
                <a:latin typeface="Calibri"/>
                <a:ea typeface="Calibri"/>
                <a:cs typeface="Calibri"/>
              </a:rPr>
              <a:t> phía server và hash mật khẩu bằng PasswordHasher</a:t>
            </a:r>
            <a:r>
              <a:rPr lang="en-US" sz="1875" b="0">
                <a:solidFill>
                  <a:srgbClr val="54635C"/>
                </a:solidFill>
                <a:latin typeface="Calibri"/>
                <a:ea typeface="Calibri"/>
                <a:cs typeface="Calibri"/>
              </a:rPr>
              <a:t>.cs</a:t>
            </a:r>
            <a:r>
              <a:rPr sz="1875" b="0">
                <a:solidFill>
                  <a:srgbClr val="54635C"/>
                </a:solidFill>
                <a:latin typeface="Calibri"/>
                <a:ea typeface="Calibri"/>
                <a:cs typeface="Calibri"/>
              </a:rPr>
              <a:t>.</a:t>
            </a:r>
          </a:p>
        </p:txBody>
      </p:sp>
      <p:sp>
        <p:nvSpPr>
          <p:cNvPr id="9" name="Rectangle 8">
            <a:extLst>
              <a:ext uri="{FF2B5EF4-FFF2-40B4-BE49-F238E27FC236}">
                <a16:creationId xmlns:a16="http://schemas.microsoft.com/office/drawing/2014/main" id="{4BAE97A4-C26F-4EA9-8E51-EBD20246E66A}"/>
              </a:ext>
            </a:extLst>
          </p:cNvPr>
          <p:cNvSpPr>
            <a:spLocks noGrp="1"/>
          </p:cNvSpPr>
          <p:nvPr/>
        </p:nvSpPr>
        <p:spPr>
          <a:xfrm>
            <a:off x="666750" y="45243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03</a:t>
            </a:r>
          </a:p>
        </p:txBody>
      </p:sp>
      <p:sp>
        <p:nvSpPr>
          <p:cNvPr id="10" name="Rectangle 9">
            <a:extLst>
              <a:ext uri="{FF2B5EF4-FFF2-40B4-BE49-F238E27FC236}">
                <a16:creationId xmlns:a16="http://schemas.microsoft.com/office/drawing/2014/main" id="{627E148D-39D9-4D95-B9B4-D3673621AF4D}"/>
              </a:ext>
            </a:extLst>
          </p:cNvPr>
          <p:cNvSpPr>
            <a:spLocks noGrp="1"/>
          </p:cNvSpPr>
          <p:nvPr/>
        </p:nvSpPr>
        <p:spPr>
          <a:xfrm>
            <a:off x="1571625" y="45243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Lưu và thông báo</a:t>
            </a:r>
          </a:p>
        </p:txBody>
      </p:sp>
      <p:sp>
        <p:nvSpPr>
          <p:cNvPr id="11" name="Rectangle 10">
            <a:extLst>
              <a:ext uri="{FF2B5EF4-FFF2-40B4-BE49-F238E27FC236}">
                <a16:creationId xmlns:a16="http://schemas.microsoft.com/office/drawing/2014/main" id="{DBE636D1-6216-4493-A1A2-F2F1572413F1}"/>
              </a:ext>
            </a:extLst>
          </p:cNvPr>
          <p:cNvSpPr>
            <a:spLocks noGrp="1"/>
          </p:cNvSpPr>
          <p:nvPr/>
        </p:nvSpPr>
        <p:spPr>
          <a:xfrm>
            <a:off x="1571625" y="49911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lang="vi-VN" sz="1875" b="0">
                <a:solidFill>
                  <a:srgbClr val="54635C"/>
                </a:solidFill>
                <a:latin typeface="Calibri"/>
                <a:ea typeface="Calibri"/>
                <a:cs typeface="Calibri"/>
              </a:rPr>
              <a:t>Lưu tài khoản vào cơ sở dữ liệu nếu Model các trường dữ liệu đã được validate. Nếu có lỗi thì thông báo tương ứng (Implement/AuthService.cs)</a:t>
            </a:r>
            <a:endParaRPr sz="1875" b="0">
              <a:solidFill>
                <a:srgbClr val="54635C"/>
              </a:solidFill>
              <a:latin typeface="Calibri"/>
              <a:ea typeface="Calibri"/>
              <a:cs typeface="Calibri"/>
            </a:endParaRPr>
          </a:p>
        </p:txBody>
      </p:sp>
    </p:spTree>
    <p:extLst>
      <p:ext uri="{BB962C8B-B14F-4D97-AF65-F5344CB8AC3E}">
        <p14:creationId xmlns:p14="http://schemas.microsoft.com/office/powerpoint/2010/main" val="609972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141033-2B6C-4E6C-A876-B90A212155BF}"/>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Session hoạt động thế nào?</a:t>
            </a:r>
            <a:endParaRPr lang="vi-VN" sz="3225" b="1">
              <a:solidFill>
                <a:srgbClr val="192E29"/>
              </a:solidFill>
              <a:latin typeface="Calibri"/>
              <a:ea typeface="Calibri"/>
              <a:cs typeface="Calibri"/>
            </a:endParaRPr>
          </a:p>
          <a:p>
            <a:pPr>
              <a:defRPr sz="3225" b="1">
                <a:solidFill>
                  <a:srgbClr val="192E29"/>
                </a:solidFill>
                <a:latin typeface="Calibri"/>
                <a:ea typeface="Calibri"/>
                <a:cs typeface="Calibri"/>
              </a:defRPr>
            </a:pPr>
            <a:r>
              <a:rPr lang="vi-VN" sz="1600"/>
              <a:t>-Khi sử dụng session, mỗi request sẽ được máy chủ tạo 1 session và lưu vào bộ nhớ (nếu chưa có session id trong cookie được gửi đến từ client). ASP.NET sẽ thêm 1 cặp “Set-Cookie: {session-id}” vào response. Trình duyệt sẽ tự động lưu cookie nếu có header: “Set-Cookie”</a:t>
            </a:r>
            <a:endParaRPr sz="1600" b="1">
              <a:solidFill>
                <a:srgbClr val="192E29"/>
              </a:solidFill>
              <a:latin typeface="Calibri"/>
              <a:ea typeface="Calibri"/>
              <a:cs typeface="Calibri"/>
            </a:endParaRPr>
          </a:p>
        </p:txBody>
      </p:sp>
      <p:sp>
        <p:nvSpPr>
          <p:cNvPr id="2" name="Rectangle 1">
            <a:extLst>
              <a:ext uri="{FF2B5EF4-FFF2-40B4-BE49-F238E27FC236}">
                <a16:creationId xmlns:a16="http://schemas.microsoft.com/office/drawing/2014/main" id="{89D975A2-E10C-4233-958F-0BEECA8F8687}"/>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07 / 10</a:t>
            </a:r>
          </a:p>
        </p:txBody>
      </p:sp>
      <p:sp>
        <p:nvSpPr>
          <p:cNvPr id="8" name="Rectangle 7">
            <a:extLst>
              <a:ext uri="{FF2B5EF4-FFF2-40B4-BE49-F238E27FC236}">
                <a16:creationId xmlns:a16="http://schemas.microsoft.com/office/drawing/2014/main" id="{EEEFA9CC-41FA-4F1A-8731-9BB6B0A8B192}"/>
              </a:ext>
            </a:extLst>
          </p:cNvPr>
          <p:cNvSpPr>
            <a:spLocks noGrp="1"/>
          </p:cNvSpPr>
          <p:nvPr/>
        </p:nvSpPr>
        <p:spPr>
          <a:xfrm>
            <a:off x="666750" y="5619750"/>
            <a:ext cx="10763250" cy="571500"/>
          </a:xfrm>
          <a:prstGeom prst="rect">
            <a:avLst/>
          </a:prstGeom>
          <a:noFill/>
          <a:ln w="0">
            <a:noFill/>
          </a:ln>
        </p:spPr>
        <p:txBody>
          <a:bodyPr/>
          <a:lstStyle>
            <a:defPPr>
              <a:defRPr sz="1800" b="0">
                <a:solidFill>
                  <a:srgbClr val="54635C"/>
                </a:solidFill>
                <a:latin typeface="Calibri"/>
                <a:ea typeface="Calibri"/>
                <a:cs typeface="Calibri"/>
              </a:defRPr>
            </a:defPPr>
            <a:lvl1pPr>
              <a:defRPr sz="1800" b="0">
                <a:solidFill>
                  <a:srgbClr val="54635C"/>
                </a:solidFill>
                <a:latin typeface="Calibri"/>
                <a:ea typeface="Calibri"/>
                <a:cs typeface="Calibri"/>
              </a:defRPr>
            </a:lvl1pPr>
            <a:lvl2pPr>
              <a:defRPr sz="1800" b="0">
                <a:solidFill>
                  <a:srgbClr val="54635C"/>
                </a:solidFill>
                <a:latin typeface="Calibri"/>
                <a:ea typeface="Calibri"/>
                <a:cs typeface="Calibri"/>
              </a:defRPr>
            </a:lvl2pPr>
            <a:lvl3pPr>
              <a:defRPr sz="1800" b="0">
                <a:solidFill>
                  <a:srgbClr val="54635C"/>
                </a:solidFill>
                <a:latin typeface="Calibri"/>
                <a:ea typeface="Calibri"/>
                <a:cs typeface="Calibri"/>
              </a:defRPr>
            </a:lvl3pPr>
            <a:lvl4pPr>
              <a:defRPr sz="1800" b="0">
                <a:solidFill>
                  <a:srgbClr val="54635C"/>
                </a:solidFill>
                <a:latin typeface="Calibri"/>
                <a:ea typeface="Calibri"/>
                <a:cs typeface="Calibri"/>
              </a:defRPr>
            </a:lvl4pPr>
            <a:lvl5pPr>
              <a:defRPr sz="1800" b="0">
                <a:solidFill>
                  <a:srgbClr val="54635C"/>
                </a:solidFill>
                <a:latin typeface="Calibri"/>
                <a:ea typeface="Calibri"/>
                <a:cs typeface="Calibri"/>
              </a:defRPr>
            </a:lvl5pPr>
            <a:lvl6pPr>
              <a:defRPr sz="1800" b="0">
                <a:solidFill>
                  <a:srgbClr val="54635C"/>
                </a:solidFill>
                <a:latin typeface="Calibri"/>
                <a:ea typeface="Calibri"/>
                <a:cs typeface="Calibri"/>
              </a:defRPr>
            </a:lvl6pPr>
            <a:lvl7pPr>
              <a:defRPr sz="1800" b="0">
                <a:solidFill>
                  <a:srgbClr val="54635C"/>
                </a:solidFill>
                <a:latin typeface="Calibri"/>
                <a:ea typeface="Calibri"/>
                <a:cs typeface="Calibri"/>
              </a:defRPr>
            </a:lvl7pPr>
            <a:lvl8pPr>
              <a:defRPr sz="1800" b="0">
                <a:solidFill>
                  <a:srgbClr val="54635C"/>
                </a:solidFill>
                <a:latin typeface="Calibri"/>
                <a:ea typeface="Calibri"/>
                <a:cs typeface="Calibri"/>
              </a:defRPr>
            </a:lvl8pPr>
            <a:lvl9pPr>
              <a:defRPr sz="1800" b="0">
                <a:solidFill>
                  <a:srgbClr val="54635C"/>
                </a:solidFill>
                <a:latin typeface="Calibri"/>
                <a:ea typeface="Calibri"/>
                <a:cs typeface="Calibri"/>
              </a:defRPr>
            </a:lvl9pPr>
          </a:lstStyle>
          <a:p>
            <a:pPr>
              <a:defRPr sz="1800" b="0">
                <a:solidFill>
                  <a:srgbClr val="54635C"/>
                </a:solidFill>
                <a:latin typeface="Calibri"/>
                <a:ea typeface="Calibri"/>
                <a:cs typeface="Calibri"/>
              </a:defRPr>
            </a:pPr>
            <a:r>
              <a:rPr lang="vi-VN" sz="1800" b="0">
                <a:solidFill>
                  <a:schemeClr val="tx1"/>
                </a:solidFill>
                <a:latin typeface="Calibri"/>
                <a:ea typeface="Calibri"/>
                <a:cs typeface="Calibri"/>
              </a:rPr>
              <a:t>Cấu hình mỗi session sẽ h</a:t>
            </a:r>
            <a:r>
              <a:rPr sz="1800" b="0">
                <a:solidFill>
                  <a:schemeClr val="tx1"/>
                </a:solidFill>
                <a:latin typeface="Calibri"/>
                <a:ea typeface="Calibri"/>
                <a:cs typeface="Calibri"/>
              </a:rPr>
              <a:t>ết hạn sau 10 phút </a:t>
            </a:r>
            <a:r>
              <a:rPr lang="vi-VN">
                <a:solidFill>
                  <a:schemeClr val="tx1"/>
                </a:solidFill>
              </a:rPr>
              <a:t>không có một request nào</a:t>
            </a:r>
            <a:r>
              <a:rPr sz="1800" b="0">
                <a:solidFill>
                  <a:schemeClr val="tx1"/>
                </a:solidFill>
                <a:latin typeface="Calibri"/>
                <a:ea typeface="Calibri"/>
                <a:cs typeface="Calibri"/>
              </a:rPr>
              <a:t>. Đăng xuất gọi Session.Clear()</a:t>
            </a:r>
            <a:r>
              <a:rPr lang="vi-VN" sz="1800" b="0">
                <a:solidFill>
                  <a:schemeClr val="tx1"/>
                </a:solidFill>
                <a:latin typeface="Calibri"/>
                <a:ea typeface="Calibri"/>
                <a:cs typeface="Calibri"/>
              </a:rPr>
              <a:t> để xóa phiên hiện tại</a:t>
            </a:r>
            <a:r>
              <a:rPr sz="1800" b="0">
                <a:solidFill>
                  <a:schemeClr val="tx1"/>
                </a:solidFill>
                <a:latin typeface="Calibri"/>
                <a:ea typeface="Calibri"/>
                <a:cs typeface="Calibri"/>
              </a:rPr>
              <a:t>.</a:t>
            </a:r>
          </a:p>
        </p:txBody>
      </p:sp>
      <p:sp>
        <p:nvSpPr>
          <p:cNvPr id="11" name="Rectangle: Rounded Corners 10">
            <a:extLst>
              <a:ext uri="{FF2B5EF4-FFF2-40B4-BE49-F238E27FC236}">
                <a16:creationId xmlns:a16="http://schemas.microsoft.com/office/drawing/2014/main" id="{B80477E8-874D-DA55-3F11-9E437DC16F65}"/>
              </a:ext>
            </a:extLst>
          </p:cNvPr>
          <p:cNvSpPr/>
          <p:nvPr/>
        </p:nvSpPr>
        <p:spPr>
          <a:xfrm>
            <a:off x="666750" y="2213811"/>
            <a:ext cx="10763250" cy="3263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7232447-BEEE-2A03-8F95-81E186FDC0A1}"/>
              </a:ext>
            </a:extLst>
          </p:cNvPr>
          <p:cNvSpPr>
            <a:spLocks noGrp="1"/>
          </p:cNvSpPr>
          <p:nvPr/>
        </p:nvSpPr>
        <p:spPr>
          <a:xfrm>
            <a:off x="2387667" y="2499712"/>
            <a:ext cx="1577941" cy="381000"/>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A56B32"/>
                </a:solidFill>
                <a:latin typeface="Calibri"/>
                <a:ea typeface="Calibri"/>
                <a:cs typeface="Calibri"/>
              </a:rPr>
              <a:t>TRÌNH DUYỆT</a:t>
            </a:r>
          </a:p>
        </p:txBody>
      </p:sp>
      <p:sp>
        <p:nvSpPr>
          <p:cNvPr id="15" name="Rectangle 14">
            <a:extLst>
              <a:ext uri="{FF2B5EF4-FFF2-40B4-BE49-F238E27FC236}">
                <a16:creationId xmlns:a16="http://schemas.microsoft.com/office/drawing/2014/main" id="{6631F4AC-A539-C40D-FD05-CBB094B79ECA}"/>
              </a:ext>
            </a:extLst>
          </p:cNvPr>
          <p:cNvSpPr>
            <a:spLocks noGrp="1"/>
          </p:cNvSpPr>
          <p:nvPr/>
        </p:nvSpPr>
        <p:spPr>
          <a:xfrm>
            <a:off x="8273917" y="2499712"/>
            <a:ext cx="1178092" cy="381000"/>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A56B32"/>
                </a:solidFill>
                <a:latin typeface="Calibri"/>
                <a:ea typeface="Calibri"/>
                <a:cs typeface="Calibri"/>
              </a:rPr>
              <a:t>MÁY CHỦ</a:t>
            </a:r>
          </a:p>
        </p:txBody>
      </p:sp>
      <p:sp>
        <p:nvSpPr>
          <p:cNvPr id="17" name="Rectangle 16">
            <a:extLst>
              <a:ext uri="{FF2B5EF4-FFF2-40B4-BE49-F238E27FC236}">
                <a16:creationId xmlns:a16="http://schemas.microsoft.com/office/drawing/2014/main" id="{1299FA32-7D2F-0C4A-4D63-544879786F0B}"/>
              </a:ext>
            </a:extLst>
          </p:cNvPr>
          <p:cNvSpPr>
            <a:spLocks noGrp="1"/>
          </p:cNvSpPr>
          <p:nvPr/>
        </p:nvSpPr>
        <p:spPr>
          <a:xfrm>
            <a:off x="1213385" y="3262313"/>
            <a:ext cx="4762500" cy="2000250"/>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sz="2250" b="0">
                <a:solidFill>
                  <a:srgbClr val="192E29"/>
                </a:solidFill>
                <a:latin typeface="Calibri"/>
                <a:ea typeface="Calibri"/>
                <a:cs typeface="Calibri"/>
              </a:rPr>
              <a:t>Cookie </a:t>
            </a:r>
            <a:r>
              <a:rPr lang="vi-VN" sz="2250" b="0">
                <a:solidFill>
                  <a:srgbClr val="192E29"/>
                </a:solidFill>
                <a:latin typeface="Calibri"/>
                <a:ea typeface="Calibri"/>
                <a:cs typeface="Calibri"/>
              </a:rPr>
              <a:t>lưu session id</a:t>
            </a:r>
            <a:endParaRPr sz="2250" b="0">
              <a:solidFill>
                <a:srgbClr val="192E29"/>
              </a:solidFill>
              <a:latin typeface="Calibri"/>
              <a:ea typeface="Calibri"/>
              <a:cs typeface="Calibri"/>
            </a:endParaRPr>
          </a:p>
          <a:p>
            <a:endParaRPr sz="2250" b="0">
              <a:solidFill>
                <a:srgbClr val="192E29"/>
              </a:solidFill>
              <a:latin typeface="Calibri"/>
              <a:ea typeface="Calibri"/>
              <a:cs typeface="Calibri"/>
            </a:endParaRPr>
          </a:p>
          <a:p>
            <a:pPr>
              <a:defRPr sz="2250" b="0">
                <a:solidFill>
                  <a:srgbClr val="192E29"/>
                </a:solidFill>
                <a:latin typeface="Calibri"/>
                <a:ea typeface="Calibri"/>
                <a:cs typeface="Calibri"/>
              </a:defRPr>
            </a:pPr>
            <a:r>
              <a:rPr sz="2250" b="0">
                <a:solidFill>
                  <a:srgbClr val="192E29"/>
                </a:solidFill>
                <a:latin typeface="Calibri"/>
                <a:ea typeface="Calibri"/>
                <a:cs typeface="Calibri"/>
              </a:rPr>
              <a:t>Request tiếp theo gửi cookie</a:t>
            </a:r>
          </a:p>
          <a:p>
            <a:pPr>
              <a:defRPr sz="2250" b="0">
                <a:solidFill>
                  <a:srgbClr val="192E29"/>
                </a:solidFill>
                <a:latin typeface="Calibri"/>
                <a:ea typeface="Calibri"/>
                <a:cs typeface="Calibri"/>
              </a:defRPr>
            </a:pPr>
            <a:r>
              <a:rPr sz="2250" b="0">
                <a:solidFill>
                  <a:srgbClr val="192E29"/>
                </a:solidFill>
                <a:latin typeface="Calibri"/>
                <a:ea typeface="Calibri"/>
                <a:cs typeface="Calibri"/>
              </a:rPr>
              <a:t>đến ứng dụng</a:t>
            </a:r>
          </a:p>
        </p:txBody>
      </p:sp>
      <p:sp>
        <p:nvSpPr>
          <p:cNvPr id="19" name="Rectangle 18">
            <a:extLst>
              <a:ext uri="{FF2B5EF4-FFF2-40B4-BE49-F238E27FC236}">
                <a16:creationId xmlns:a16="http://schemas.microsoft.com/office/drawing/2014/main" id="{6CE9E588-22DC-5318-51D7-AD4FE4B63513}"/>
              </a:ext>
            </a:extLst>
          </p:cNvPr>
          <p:cNvSpPr>
            <a:spLocks noGrp="1"/>
          </p:cNvSpPr>
          <p:nvPr/>
        </p:nvSpPr>
        <p:spPr>
          <a:xfrm>
            <a:off x="6667500" y="3272039"/>
            <a:ext cx="4762500" cy="2000250"/>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lang="vi-VN" sz="2250" b="0">
                <a:solidFill>
                  <a:srgbClr val="192E29"/>
                </a:solidFill>
                <a:latin typeface="Calibri"/>
                <a:ea typeface="Calibri"/>
                <a:cs typeface="Calibri"/>
              </a:rPr>
              <a:t>Cấu hình và sử dụng Session trong Program.cs</a:t>
            </a:r>
          </a:p>
          <a:p>
            <a:pPr>
              <a:defRPr sz="2250" b="0">
                <a:solidFill>
                  <a:srgbClr val="192E29"/>
                </a:solidFill>
                <a:latin typeface="Calibri"/>
                <a:ea typeface="Calibri"/>
                <a:cs typeface="Calibri"/>
              </a:defRPr>
            </a:pPr>
            <a:r>
              <a:rPr sz="2250" b="0">
                <a:solidFill>
                  <a:srgbClr val="192E29"/>
                </a:solidFill>
                <a:latin typeface="Calibri"/>
                <a:ea typeface="Calibri"/>
                <a:cs typeface="Calibri"/>
              </a:rPr>
              <a:t>Session </a:t>
            </a:r>
            <a:r>
              <a:rPr lang="vi-VN" sz="2250" b="0">
                <a:solidFill>
                  <a:srgbClr val="192E29"/>
                </a:solidFill>
                <a:latin typeface="Calibri"/>
                <a:ea typeface="Calibri"/>
                <a:cs typeface="Calibri"/>
              </a:rPr>
              <a:t>sẽ được lưu </a:t>
            </a:r>
            <a:r>
              <a:rPr sz="2250" b="0">
                <a:solidFill>
                  <a:srgbClr val="192E29"/>
                </a:solidFill>
                <a:latin typeface="Calibri"/>
                <a:ea typeface="Calibri"/>
                <a:cs typeface="Calibri"/>
              </a:rPr>
              <a:t>trong bộ nhớ</a:t>
            </a:r>
            <a:r>
              <a:rPr lang="vi-VN" sz="2250" b="0">
                <a:solidFill>
                  <a:srgbClr val="192E29"/>
                </a:solidFill>
                <a:latin typeface="Calibri"/>
                <a:ea typeface="Calibri"/>
                <a:cs typeface="Calibri"/>
              </a:rPr>
              <a:t> kèm các key:MaTaiKhoan,</a:t>
            </a:r>
            <a:r>
              <a:rPr sz="2250" b="0">
                <a:solidFill>
                  <a:srgbClr val="192E29"/>
                </a:solidFill>
                <a:latin typeface="Calibri"/>
                <a:ea typeface="Calibri"/>
                <a:cs typeface="Calibri"/>
              </a:rPr>
              <a:t> </a:t>
            </a:r>
            <a:r>
              <a:rPr lang="vi-VN" sz="2250" b="0">
                <a:solidFill>
                  <a:srgbClr val="192E29"/>
                </a:solidFill>
                <a:latin typeface="Calibri"/>
                <a:ea typeface="Calibri"/>
                <a:cs typeface="Calibri"/>
              </a:rPr>
              <a:t>HoTen, </a:t>
            </a:r>
            <a:r>
              <a:rPr sz="2250" b="0">
                <a:solidFill>
                  <a:srgbClr val="192E29"/>
                </a:solidFill>
                <a:latin typeface="Calibri"/>
                <a:ea typeface="Calibri"/>
                <a:cs typeface="Calibri"/>
              </a:rPr>
              <a:t>VaiTro</a:t>
            </a:r>
          </a:p>
        </p:txBody>
      </p:sp>
      <p:cxnSp>
        <p:nvCxnSpPr>
          <p:cNvPr id="21" name="Straight Connector 20">
            <a:extLst>
              <a:ext uri="{FF2B5EF4-FFF2-40B4-BE49-F238E27FC236}">
                <a16:creationId xmlns:a16="http://schemas.microsoft.com/office/drawing/2014/main" id="{12441F82-67FB-D4BC-1D36-2D54541FCF82}"/>
              </a:ext>
            </a:extLst>
          </p:cNvPr>
          <p:cNvCxnSpPr>
            <a:cxnSpLocks/>
          </p:cNvCxnSpPr>
          <p:nvPr/>
        </p:nvCxnSpPr>
        <p:spPr>
          <a:xfrm>
            <a:off x="5775158" y="2194560"/>
            <a:ext cx="77002" cy="328231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17975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D6EB10-4A72-4779-B384-20F98651E195}"/>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Đăng nhập và xác thực mật khẩu</a:t>
            </a:r>
          </a:p>
        </p:txBody>
      </p:sp>
      <p:sp>
        <p:nvSpPr>
          <p:cNvPr id="2" name="Rectangle 1">
            <a:extLst>
              <a:ext uri="{FF2B5EF4-FFF2-40B4-BE49-F238E27FC236}">
                <a16:creationId xmlns:a16="http://schemas.microsoft.com/office/drawing/2014/main" id="{C58F377B-3E89-49BD-B9BB-9E92C34BB2CF}"/>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06 / 10</a:t>
            </a:r>
          </a:p>
        </p:txBody>
      </p:sp>
      <p:graphicFrame>
        <p:nvGraphicFramePr>
          <p:cNvPr id="3" name="Table 2">
            <a:extLst>
              <a:ext uri="{FF2B5EF4-FFF2-40B4-BE49-F238E27FC236}">
                <a16:creationId xmlns:a16="http://schemas.microsoft.com/office/drawing/2014/main" id="{4498998D-2391-44DE-B790-E27D490EBDEC}"/>
              </a:ext>
            </a:extLst>
          </p:cNvPr>
          <p:cNvGraphicFramePr/>
          <p:nvPr>
            <p:extLst>
              <p:ext uri="{D42A27DB-BD31-4B8C-83A1-F6EECF244321}">
                <p14:modId xmlns:p14="http://schemas.microsoft.com/office/powerpoint/2010/main" val="3636387760"/>
              </p:ext>
            </p:extLst>
          </p:nvPr>
        </p:nvGraphicFramePr>
        <p:xfrm>
          <a:off x="666750" y="1666875"/>
          <a:ext cx="10763250" cy="3095625"/>
        </p:xfrm>
        <a:graphic>
          <a:graphicData uri="http://schemas.openxmlformats.org/drawingml/2006/table">
            <a:tbl>
              <a:tblPr>
                <a:tableStyleId>{2D5ABB26-0587-4C30-8999-92F81FD0307C}</a:tableStyleId>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r>
                        <a:rPr sz="1800" b="1">
                          <a:solidFill>
                            <a:schemeClr val="tx1"/>
                          </a:solidFill>
                        </a:rPr>
                        <a:t>Bước</a:t>
                      </a:r>
                      <a:endParaRPr sz="1800" b="1">
                        <a:solidFill>
                          <a:schemeClr val="tx1"/>
                        </a:solidFill>
                        <a:latin typeface="Calibri"/>
                        <a:ea typeface="Calibri"/>
                        <a:cs typeface="Calibri"/>
                      </a:endParaRPr>
                    </a:p>
                  </a:txBody>
                  <a:tcPr/>
                </a:tc>
                <a:tc>
                  <a:txBody>
                    <a:bodyPr/>
                    <a:lstStyle/>
                    <a:p>
                      <a:r>
                        <a:rPr sz="1800" b="1">
                          <a:solidFill>
                            <a:schemeClr val="tx1"/>
                          </a:solidFill>
                        </a:rPr>
                        <a:t>Xử lý</a:t>
                      </a:r>
                      <a:endParaRPr sz="1800" b="1">
                        <a:solidFill>
                          <a:schemeClr val="tx1"/>
                        </a:solidFill>
                        <a:latin typeface="Calibri"/>
                        <a:ea typeface="Calibri"/>
                        <a:cs typeface="Calibri"/>
                      </a:endParaRPr>
                    </a:p>
                  </a:txBody>
                  <a:tcPr/>
                </a:tc>
                <a:extLst>
                  <a:ext uri="{0D108BD9-81ED-4DB2-BD59-A6C34878D82A}">
                    <a16:rowId xmlns:a16="http://schemas.microsoft.com/office/drawing/2014/main" val="10000"/>
                  </a:ext>
                </a:extLst>
              </a:tr>
              <a:tr h="619125">
                <a:tc>
                  <a:txBody>
                    <a:bodyPr/>
                    <a:lstStyle/>
                    <a:p>
                      <a:r>
                        <a:rPr sz="1800" b="0">
                          <a:solidFill>
                            <a:srgbClr val="192E29"/>
                          </a:solidFill>
                        </a:rPr>
                        <a:t>1. Tìm tài khoản</a:t>
                      </a:r>
                      <a:endParaRPr sz="1800" b="0">
                        <a:solidFill>
                          <a:srgbClr val="192E29"/>
                        </a:solidFill>
                        <a:latin typeface="Calibri"/>
                        <a:ea typeface="Calibri"/>
                        <a:cs typeface="Calibri"/>
                      </a:endParaRPr>
                    </a:p>
                  </a:txBody>
                  <a:tcPr/>
                </a:tc>
                <a:tc>
                  <a:txBody>
                    <a:bodyPr/>
                    <a:lstStyle/>
                    <a:p>
                      <a:r>
                        <a:rPr sz="1800" b="0">
                          <a:solidFill>
                            <a:srgbClr val="192E29"/>
                          </a:solidFill>
                        </a:rPr>
                        <a:t>Truy vấn TenDangNhap bằng EF Core</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1"/>
                  </a:ext>
                </a:extLst>
              </a:tr>
              <a:tr h="619125">
                <a:tc>
                  <a:txBody>
                    <a:bodyPr/>
                    <a:lstStyle/>
                    <a:p>
                      <a:r>
                        <a:rPr sz="1800" b="0">
                          <a:solidFill>
                            <a:srgbClr val="192E29"/>
                          </a:solidFill>
                        </a:rPr>
                        <a:t>2. Kiểm tra trạng thái</a:t>
                      </a:r>
                      <a:endParaRPr sz="1800" b="0">
                        <a:solidFill>
                          <a:srgbClr val="192E29"/>
                        </a:solidFill>
                        <a:latin typeface="Calibri"/>
                        <a:ea typeface="Calibri"/>
                        <a:cs typeface="Calibri"/>
                      </a:endParaRPr>
                    </a:p>
                  </a:txBody>
                  <a:tcPr/>
                </a:tc>
                <a:tc>
                  <a:txBody>
                    <a:bodyPr/>
                    <a:lstStyle/>
                    <a:p>
                      <a:r>
                        <a:rPr sz="1800" b="0">
                          <a:solidFill>
                            <a:srgbClr val="192E29"/>
                          </a:solidFill>
                        </a:rPr>
                        <a:t>Từ chối tài khoản bị khóa</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2"/>
                  </a:ext>
                </a:extLst>
              </a:tr>
              <a:tr h="619125">
                <a:tc>
                  <a:txBody>
                    <a:bodyPr/>
                    <a:lstStyle/>
                    <a:p>
                      <a:r>
                        <a:rPr sz="1800" b="0">
                          <a:solidFill>
                            <a:srgbClr val="192E29"/>
                          </a:solidFill>
                        </a:rPr>
                        <a:t>3. Xác minh mật khẩu</a:t>
                      </a:r>
                      <a:endParaRPr sz="1800" b="0">
                        <a:solidFill>
                          <a:srgbClr val="192E29"/>
                        </a:solidFill>
                        <a:latin typeface="Calibri"/>
                        <a:ea typeface="Calibri"/>
                        <a:cs typeface="Calibri"/>
                      </a:endParaRPr>
                    </a:p>
                  </a:txBody>
                  <a:tcPr/>
                </a:tc>
                <a:tc>
                  <a:txBody>
                    <a:bodyPr/>
                    <a:lstStyle/>
                    <a:p>
                      <a:r>
                        <a:rPr sz="1800" b="0">
                          <a:solidFill>
                            <a:srgbClr val="192E29"/>
                          </a:solidFill>
                        </a:rPr>
                        <a:t>So sánh mật khẩu nhập với hash qua PasswordHasher</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3"/>
                  </a:ext>
                </a:extLst>
              </a:tr>
              <a:tr h="619125">
                <a:tc>
                  <a:txBody>
                    <a:bodyPr/>
                    <a:lstStyle/>
                    <a:p>
                      <a:r>
                        <a:rPr sz="1800" b="0">
                          <a:solidFill>
                            <a:srgbClr val="192E29"/>
                          </a:solidFill>
                        </a:rPr>
                        <a:t>4. Tạo </a:t>
                      </a:r>
                      <a:r>
                        <a:rPr lang="vi-VN" sz="1800" b="0">
                          <a:solidFill>
                            <a:srgbClr val="192E29"/>
                          </a:solidFill>
                        </a:rPr>
                        <a:t>session</a:t>
                      </a:r>
                      <a:endParaRPr sz="1800" b="0">
                        <a:solidFill>
                          <a:srgbClr val="192E29"/>
                        </a:solidFill>
                        <a:latin typeface="Calibri"/>
                        <a:ea typeface="Calibri"/>
                        <a:cs typeface="Calibri"/>
                      </a:endParaRPr>
                    </a:p>
                  </a:txBody>
                  <a:tcPr/>
                </a:tc>
                <a:tc>
                  <a:txBody>
                    <a:bodyPr/>
                    <a:lstStyle/>
                    <a:p>
                      <a:r>
                        <a:rPr sz="1800" b="0">
                          <a:solidFill>
                            <a:srgbClr val="192E29"/>
                          </a:solidFill>
                        </a:rPr>
                        <a:t>Ghi MaTaiKhoan, HoTen, VaiTro vào Session</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C7D61839-E373-4DD3-93EA-4261AEE1A418}"/>
              </a:ext>
            </a:extLst>
          </p:cNvPr>
          <p:cNvSpPr>
            <a:spLocks noGrp="1"/>
          </p:cNvSpPr>
          <p:nvPr/>
        </p:nvSpPr>
        <p:spPr>
          <a:xfrm>
            <a:off x="666750" y="5334000"/>
            <a:ext cx="10763250" cy="619125"/>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FF0000"/>
                </a:solidFill>
                <a:latin typeface="Calibri"/>
                <a:ea typeface="Calibri"/>
                <a:cs typeface="Calibri"/>
              </a:rPr>
              <a:t>Sai thông tin: thông báo lỗi</a:t>
            </a:r>
            <a:r>
              <a:rPr sz="1875" b="1">
                <a:solidFill>
                  <a:schemeClr val="tx1"/>
                </a:solidFill>
                <a:latin typeface="Calibri"/>
                <a:ea typeface="Calibri"/>
                <a:cs typeface="Calibri"/>
              </a:rPr>
              <a:t>. </a:t>
            </a:r>
            <a:r>
              <a:rPr sz="1875" b="1">
                <a:solidFill>
                  <a:schemeClr val="accent6"/>
                </a:solidFill>
                <a:latin typeface="Calibri"/>
                <a:ea typeface="Calibri"/>
                <a:cs typeface="Calibri"/>
              </a:rPr>
              <a:t>Thành công: mở giao diện theo vai trò.</a:t>
            </a:r>
          </a:p>
        </p:txBody>
      </p:sp>
    </p:spTree>
    <p:extLst>
      <p:ext uri="{BB962C8B-B14F-4D97-AF65-F5344CB8AC3E}">
        <p14:creationId xmlns:p14="http://schemas.microsoft.com/office/powerpoint/2010/main" val="1849459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1C855-C85C-48B1-891C-B915BC5A3C43}"/>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Phân quyền tại server</a:t>
            </a:r>
          </a:p>
        </p:txBody>
      </p:sp>
      <p:sp>
        <p:nvSpPr>
          <p:cNvPr id="2" name="Rectangle 1">
            <a:extLst>
              <a:ext uri="{FF2B5EF4-FFF2-40B4-BE49-F238E27FC236}">
                <a16:creationId xmlns:a16="http://schemas.microsoft.com/office/drawing/2014/main" id="{394FD854-03B8-42B8-A3FF-0CDBD0CBB5B8}"/>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08 / 10</a:t>
            </a:r>
          </a:p>
        </p:txBody>
      </p:sp>
      <p:graphicFrame>
        <p:nvGraphicFramePr>
          <p:cNvPr id="3" name="Table 2">
            <a:extLst>
              <a:ext uri="{FF2B5EF4-FFF2-40B4-BE49-F238E27FC236}">
                <a16:creationId xmlns:a16="http://schemas.microsoft.com/office/drawing/2014/main" id="{F6A3BF2E-3FD2-4FB5-A810-01BEC365D877}"/>
              </a:ext>
            </a:extLst>
          </p:cNvPr>
          <p:cNvGraphicFramePr/>
          <p:nvPr>
            <p:extLst>
              <p:ext uri="{D42A27DB-BD31-4B8C-83A1-F6EECF244321}">
                <p14:modId xmlns:p14="http://schemas.microsoft.com/office/powerpoint/2010/main" val="2282466155"/>
              </p:ext>
            </p:extLst>
          </p:nvPr>
        </p:nvGraphicFramePr>
        <p:xfrm>
          <a:off x="666750" y="1857375"/>
          <a:ext cx="10763250" cy="2476500"/>
        </p:xfrm>
        <a:graphic>
          <a:graphicData uri="http://schemas.openxmlformats.org/drawingml/2006/table">
            <a:tbl>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r>
                        <a:rPr lang="vi-VN" sz="1800" b="1">
                          <a:solidFill>
                            <a:srgbClr val="FFFFFF"/>
                          </a:solidFill>
                          <a:latin typeface="Calibri"/>
                          <a:ea typeface="Calibri"/>
                          <a:cs typeface="Calibri"/>
                        </a:rPr>
                        <a:t>Trường hợp</a:t>
                      </a:r>
                      <a:endParaRPr sz="1800" b="1">
                        <a:solidFill>
                          <a:srgbClr val="FFFFFF"/>
                        </a:solidFill>
                        <a:latin typeface="Calibri"/>
                        <a:ea typeface="Calibri"/>
                        <a:cs typeface="Calibri"/>
                      </a:endParaRPr>
                    </a:p>
                  </a:txBody>
                  <a:tcPr>
                    <a:lnL w="9525">
                      <a:solidFill>
                        <a:srgbClr val="CDD6CF"/>
                      </a:solidFill>
                      <a:prstDash val="solid"/>
                    </a:lnL>
                    <a:lnR w="9525">
                      <a:solidFill>
                        <a:srgbClr val="CDD6CF"/>
                      </a:solidFill>
                      <a:prstDash val="solid"/>
                    </a:lnR>
                    <a:lnT w="9525">
                      <a:solidFill>
                        <a:srgbClr val="CDD6CF"/>
                      </a:solidFill>
                      <a:prstDash val="solid"/>
                    </a:lnT>
                    <a:lnB w="9525">
                      <a:solidFill>
                        <a:srgbClr val="CDD6CF"/>
                      </a:solidFill>
                      <a:prstDash val="solid"/>
                    </a:lnB>
                    <a:solidFill>
                      <a:srgbClr val="183E35"/>
                    </a:solidFill>
                  </a:tcPr>
                </a:tc>
                <a:tc>
                  <a:txBody>
                    <a:bodyPr/>
                    <a:lstStyle/>
                    <a:p>
                      <a:r>
                        <a:rPr sz="1800" b="1">
                          <a:solidFill>
                            <a:srgbClr val="FFFFFF"/>
                          </a:solidFill>
                          <a:latin typeface="Calibri"/>
                          <a:ea typeface="Calibri"/>
                          <a:cs typeface="Calibri"/>
                        </a:rPr>
                        <a:t>Kết quả</a:t>
                      </a:r>
                    </a:p>
                  </a:txBody>
                  <a:tcPr>
                    <a:lnL w="9525" cap="flat" cmpd="sng" algn="ctr">
                      <a:solidFill>
                        <a:srgbClr val="CDD6CF"/>
                      </a:solidFill>
                      <a:prstDash val="solid"/>
                      <a:round/>
                      <a:headEnd type="none" w="med" len="med"/>
                      <a:tailEnd type="none" w="med" len="med"/>
                    </a:lnL>
                    <a:lnR w="9525">
                      <a:solidFill>
                        <a:srgbClr val="CDD6CF"/>
                      </a:solidFill>
                      <a:prstDash val="solid"/>
                    </a:lnR>
                    <a:lnT w="9525">
                      <a:solidFill>
                        <a:srgbClr val="CDD6CF"/>
                      </a:solidFill>
                      <a:prstDash val="solid"/>
                    </a:lnT>
                    <a:lnB w="9525">
                      <a:solidFill>
                        <a:srgbClr val="CDD6CF"/>
                      </a:solidFill>
                      <a:prstDash val="solid"/>
                    </a:lnB>
                    <a:solidFill>
                      <a:srgbClr val="183E35"/>
                    </a:solidFill>
                  </a:tcPr>
                </a:tc>
                <a:extLst>
                  <a:ext uri="{0D108BD9-81ED-4DB2-BD59-A6C34878D82A}">
                    <a16:rowId xmlns:a16="http://schemas.microsoft.com/office/drawing/2014/main" val="10000"/>
                  </a:ext>
                </a:extLst>
              </a:tr>
              <a:tr h="619125">
                <a:tc>
                  <a:txBody>
                    <a:bodyPr/>
                    <a:lstStyle/>
                    <a:p>
                      <a:r>
                        <a:rPr sz="1800" b="0">
                          <a:solidFill>
                            <a:srgbClr val="192E29"/>
                          </a:solidFill>
                          <a:latin typeface="Calibri"/>
                          <a:ea typeface="Calibri"/>
                          <a:cs typeface="Calibri"/>
                        </a:rPr>
                        <a:t>Admin có Session</a:t>
                      </a:r>
                      <a:r>
                        <a:rPr lang="vi-VN" sz="1800" b="0">
                          <a:solidFill>
                            <a:srgbClr val="192E29"/>
                          </a:solidFill>
                          <a:latin typeface="Calibri"/>
                          <a:ea typeface="Calibri"/>
                          <a:cs typeface="Calibri"/>
                        </a:rPr>
                        <a:t> với role</a:t>
                      </a:r>
                      <a:r>
                        <a:rPr sz="1800" b="0">
                          <a:solidFill>
                            <a:srgbClr val="192E29"/>
                          </a:solidFill>
                          <a:latin typeface="Calibri"/>
                          <a:ea typeface="Calibri"/>
                          <a:cs typeface="Calibri"/>
                        </a:rPr>
                        <a:t> hợp lệ</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tc>
                  <a:txBody>
                    <a:bodyPr/>
                    <a:lstStyle/>
                    <a:p>
                      <a:r>
                        <a:rPr sz="1800" b="0">
                          <a:solidFill>
                            <a:srgbClr val="192E29"/>
                          </a:solidFill>
                          <a:latin typeface="Calibri"/>
                          <a:ea typeface="Calibri"/>
                          <a:cs typeface="Calibri"/>
                        </a:rPr>
                        <a:t>Cho phép truy cập và xử lý</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800" b="0">
                          <a:solidFill>
                            <a:srgbClr val="192E29"/>
                          </a:solidFill>
                          <a:latin typeface="Calibri"/>
                          <a:ea typeface="Calibri"/>
                          <a:cs typeface="Calibri"/>
                        </a:rPr>
                        <a:t>User nhập URL quản trị</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ECEFE8"/>
                    </a:solidFill>
                  </a:tcPr>
                </a:tc>
                <a:tc>
                  <a:txBody>
                    <a:bodyPr/>
                    <a:lstStyle/>
                    <a:p>
                      <a:r>
                        <a:rPr sz="1800" b="0">
                          <a:solidFill>
                            <a:srgbClr val="192E29"/>
                          </a:solidFill>
                          <a:latin typeface="Calibri"/>
                          <a:ea typeface="Calibri"/>
                          <a:cs typeface="Calibri"/>
                        </a:rPr>
                        <a:t>Từ chối bằng HTTP 403</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ECEFE8"/>
                    </a:solidFill>
                  </a:tcPr>
                </a:tc>
                <a:extLst>
                  <a:ext uri="{0D108BD9-81ED-4DB2-BD59-A6C34878D82A}">
                    <a16:rowId xmlns:a16="http://schemas.microsoft.com/office/drawing/2014/main" val="10002"/>
                  </a:ext>
                </a:extLst>
              </a:tr>
              <a:tr h="619125">
                <a:tc>
                  <a:txBody>
                    <a:bodyPr/>
                    <a:lstStyle/>
                    <a:p>
                      <a:r>
                        <a:rPr sz="1800" b="0">
                          <a:solidFill>
                            <a:srgbClr val="192E29"/>
                          </a:solidFill>
                          <a:latin typeface="Calibri"/>
                          <a:ea typeface="Calibri"/>
                          <a:cs typeface="Calibri"/>
                        </a:rPr>
                        <a:t>Session thiếu hoặc hết hạn</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tc>
                  <a:txBody>
                    <a:bodyPr/>
                    <a:lstStyle/>
                    <a:p>
                      <a:r>
                        <a:rPr sz="1800" b="0">
                          <a:solidFill>
                            <a:srgbClr val="192E29"/>
                          </a:solidFill>
                          <a:latin typeface="Calibri"/>
                          <a:ea typeface="Calibri"/>
                          <a:cs typeface="Calibri"/>
                        </a:rPr>
                        <a:t>Filter hiện tại có thể trả HTTP 403</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042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ADAF44B-7DF8-4517-9FB7-B1FA56F90512}"/>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CRUD loại bàn và bảo vệ dữ liệu</a:t>
            </a:r>
          </a:p>
        </p:txBody>
      </p:sp>
      <p:sp>
        <p:nvSpPr>
          <p:cNvPr id="2" name="Rectangle 1">
            <a:extLst>
              <a:ext uri="{FF2B5EF4-FFF2-40B4-BE49-F238E27FC236}">
                <a16:creationId xmlns:a16="http://schemas.microsoft.com/office/drawing/2014/main" id="{A5BDD850-8578-4ECC-B127-C86556C31E23}"/>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09 / 10</a:t>
            </a:r>
          </a:p>
        </p:txBody>
      </p:sp>
      <p:sp>
        <p:nvSpPr>
          <p:cNvPr id="3" name="Rectangle 2">
            <a:extLst>
              <a:ext uri="{FF2B5EF4-FFF2-40B4-BE49-F238E27FC236}">
                <a16:creationId xmlns:a16="http://schemas.microsoft.com/office/drawing/2014/main" id="{86458AF2-E9DD-4B4D-B5E8-14DC5F5BA95C}"/>
              </a:ext>
            </a:extLst>
          </p:cNvPr>
          <p:cNvSpPr>
            <a:spLocks noGrp="1"/>
          </p:cNvSpPr>
          <p:nvPr/>
        </p:nvSpPr>
        <p:spPr>
          <a:xfrm>
            <a:off x="666750" y="16668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01</a:t>
            </a:r>
          </a:p>
        </p:txBody>
      </p:sp>
      <p:sp>
        <p:nvSpPr>
          <p:cNvPr id="4" name="Rectangle 3">
            <a:extLst>
              <a:ext uri="{FF2B5EF4-FFF2-40B4-BE49-F238E27FC236}">
                <a16:creationId xmlns:a16="http://schemas.microsoft.com/office/drawing/2014/main" id="{25DD5F28-61EC-4A01-8AAD-E5803BB0EC44}"/>
              </a:ext>
            </a:extLst>
          </p:cNvPr>
          <p:cNvSpPr>
            <a:spLocks noGrp="1"/>
          </p:cNvSpPr>
          <p:nvPr/>
        </p:nvSpPr>
        <p:spPr>
          <a:xfrm>
            <a:off x="1571625" y="16668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GET hiển thị</a:t>
            </a:r>
            <a:r>
              <a:rPr lang="vi-VN" sz="2175" b="1">
                <a:solidFill>
                  <a:srgbClr val="192E29"/>
                </a:solidFill>
                <a:latin typeface="Calibri"/>
                <a:ea typeface="Calibri"/>
                <a:cs typeface="Calibri"/>
              </a:rPr>
              <a:t> form</a:t>
            </a:r>
            <a:r>
              <a:rPr sz="2175" b="1">
                <a:solidFill>
                  <a:srgbClr val="192E29"/>
                </a:solidFill>
                <a:latin typeface="Calibri"/>
                <a:ea typeface="Calibri"/>
                <a:cs typeface="Calibri"/>
              </a:rPr>
              <a:t>, POST</a:t>
            </a:r>
            <a:r>
              <a:rPr lang="en-US" sz="2175" b="1">
                <a:solidFill>
                  <a:srgbClr val="192E29"/>
                </a:solidFill>
                <a:latin typeface="Calibri"/>
                <a:ea typeface="Calibri"/>
                <a:cs typeface="Calibri"/>
              </a:rPr>
              <a:t> thay đổi</a:t>
            </a:r>
            <a:r>
              <a:rPr lang="vi-VN" sz="2175" b="1">
                <a:solidFill>
                  <a:srgbClr val="192E29"/>
                </a:solidFill>
                <a:latin typeface="Calibri"/>
                <a:ea typeface="Calibri"/>
                <a:cs typeface="Calibri"/>
              </a:rPr>
              <a:t> dữ liệu</a:t>
            </a:r>
            <a:endParaRPr sz="2175" b="1">
              <a:solidFill>
                <a:srgbClr val="192E29"/>
              </a:solidFill>
              <a:latin typeface="Calibri"/>
              <a:ea typeface="Calibri"/>
              <a:cs typeface="Calibri"/>
            </a:endParaRPr>
          </a:p>
        </p:txBody>
      </p:sp>
      <p:sp>
        <p:nvSpPr>
          <p:cNvPr id="5" name="Rectangle 4">
            <a:extLst>
              <a:ext uri="{FF2B5EF4-FFF2-40B4-BE49-F238E27FC236}">
                <a16:creationId xmlns:a16="http://schemas.microsoft.com/office/drawing/2014/main" id="{B017814C-0A8F-472C-991B-A2F244CDF5DF}"/>
              </a:ext>
            </a:extLst>
          </p:cNvPr>
          <p:cNvSpPr>
            <a:spLocks noGrp="1"/>
          </p:cNvSpPr>
          <p:nvPr/>
        </p:nvSpPr>
        <p:spPr>
          <a:xfrm>
            <a:off x="1571625" y="21336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Thêm, sửa, xóa có xác nhận và cập nhật trạng thái.</a:t>
            </a:r>
          </a:p>
        </p:txBody>
      </p:sp>
      <p:sp>
        <p:nvSpPr>
          <p:cNvPr id="6" name="Rectangle 5">
            <a:extLst>
              <a:ext uri="{FF2B5EF4-FFF2-40B4-BE49-F238E27FC236}">
                <a16:creationId xmlns:a16="http://schemas.microsoft.com/office/drawing/2014/main" id="{0D5DAF8B-9CE7-4F9F-9964-75E4B33AE424}"/>
              </a:ext>
            </a:extLst>
          </p:cNvPr>
          <p:cNvSpPr>
            <a:spLocks noGrp="1"/>
          </p:cNvSpPr>
          <p:nvPr/>
        </p:nvSpPr>
        <p:spPr>
          <a:xfrm>
            <a:off x="666750" y="309562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02</a:t>
            </a:r>
          </a:p>
        </p:txBody>
      </p:sp>
      <p:sp>
        <p:nvSpPr>
          <p:cNvPr id="7" name="Rectangle 6">
            <a:extLst>
              <a:ext uri="{FF2B5EF4-FFF2-40B4-BE49-F238E27FC236}">
                <a16:creationId xmlns:a16="http://schemas.microsoft.com/office/drawing/2014/main" id="{AB1400FD-3BA4-48EC-B4EF-EA85ECF0076B}"/>
              </a:ext>
            </a:extLst>
          </p:cNvPr>
          <p:cNvSpPr>
            <a:spLocks noGrp="1"/>
          </p:cNvSpPr>
          <p:nvPr/>
        </p:nvSpPr>
        <p:spPr>
          <a:xfrm>
            <a:off x="1571625" y="309562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Kiểm tra trước khi lưu</a:t>
            </a:r>
          </a:p>
        </p:txBody>
      </p:sp>
      <p:sp>
        <p:nvSpPr>
          <p:cNvPr id="8" name="Rectangle 7">
            <a:extLst>
              <a:ext uri="{FF2B5EF4-FFF2-40B4-BE49-F238E27FC236}">
                <a16:creationId xmlns:a16="http://schemas.microsoft.com/office/drawing/2014/main" id="{504AD13F-0B56-4A64-A491-37C7AB803A2D}"/>
              </a:ext>
            </a:extLst>
          </p:cNvPr>
          <p:cNvSpPr>
            <a:spLocks noGrp="1"/>
          </p:cNvSpPr>
          <p:nvPr/>
        </p:nvSpPr>
        <p:spPr>
          <a:xfrm>
            <a:off x="1571625" y="356235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ModelState, tên trùng và anti-forgery cho thao tác thay đổi dữ liệu.</a:t>
            </a:r>
          </a:p>
        </p:txBody>
      </p:sp>
      <p:sp>
        <p:nvSpPr>
          <p:cNvPr id="9" name="Rectangle 8">
            <a:extLst>
              <a:ext uri="{FF2B5EF4-FFF2-40B4-BE49-F238E27FC236}">
                <a16:creationId xmlns:a16="http://schemas.microsoft.com/office/drawing/2014/main" id="{4246A849-DF9A-458F-833A-39D6E088B8F7}"/>
              </a:ext>
            </a:extLst>
          </p:cNvPr>
          <p:cNvSpPr>
            <a:spLocks noGrp="1"/>
          </p:cNvSpPr>
          <p:nvPr/>
        </p:nvSpPr>
        <p:spPr>
          <a:xfrm>
            <a:off x="666750" y="45243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03</a:t>
            </a:r>
          </a:p>
        </p:txBody>
      </p:sp>
      <p:sp>
        <p:nvSpPr>
          <p:cNvPr id="10" name="Rectangle 9">
            <a:extLst>
              <a:ext uri="{FF2B5EF4-FFF2-40B4-BE49-F238E27FC236}">
                <a16:creationId xmlns:a16="http://schemas.microsoft.com/office/drawing/2014/main" id="{E6055EC9-F213-4572-9DB4-3FF0F2D7C769}"/>
              </a:ext>
            </a:extLst>
          </p:cNvPr>
          <p:cNvSpPr>
            <a:spLocks noGrp="1"/>
          </p:cNvSpPr>
          <p:nvPr/>
        </p:nvSpPr>
        <p:spPr>
          <a:xfrm>
            <a:off x="1571625" y="45243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Chặn xóa khi đang có bàn tham chiếu</a:t>
            </a:r>
          </a:p>
        </p:txBody>
      </p:sp>
      <p:sp>
        <p:nvSpPr>
          <p:cNvPr id="11" name="Rectangle 10">
            <a:extLst>
              <a:ext uri="{FF2B5EF4-FFF2-40B4-BE49-F238E27FC236}">
                <a16:creationId xmlns:a16="http://schemas.microsoft.com/office/drawing/2014/main" id="{3411AC66-CD08-49D9-A750-E16B66686B36}"/>
              </a:ext>
            </a:extLst>
          </p:cNvPr>
          <p:cNvSpPr>
            <a:spLocks noGrp="1"/>
          </p:cNvSpPr>
          <p:nvPr/>
        </p:nvSpPr>
        <p:spPr>
          <a:xfrm>
            <a:off x="1571625" y="49911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lang="vi-VN"/>
              <a:t>Entity BanAn nếu đang có MaLoaiBan đang tham chiếu đến 1 bản ghi của bảng LoaiBan sẽ không cho xóa bản ghi này </a:t>
            </a:r>
            <a:endParaRPr sz="1875" b="0">
              <a:solidFill>
                <a:srgbClr val="54635C"/>
              </a:solidFill>
              <a:latin typeface="Calibri"/>
              <a:ea typeface="Calibri"/>
              <a:cs typeface="Calibri"/>
            </a:endParaRPr>
          </a:p>
        </p:txBody>
      </p:sp>
    </p:spTree>
    <p:extLst>
      <p:ext uri="{BB962C8B-B14F-4D97-AF65-F5344CB8AC3E}">
        <p14:creationId xmlns:p14="http://schemas.microsoft.com/office/powerpoint/2010/main" val="727914282"/>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Bjorn</Template>
  <TotalTime>34</TotalTime>
  <Words>2184</Words>
  <Application>Microsoft Office PowerPoint</Application>
  <DocSecurity>0</DocSecurity>
  <PresentationFormat>Widescreen</PresentationFormat>
  <Paragraphs>137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Neue Haas Grotesk Text Pro</vt:lpstr>
      <vt:lpstr>System Font Regular</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Khanh</cp:lastModifiedBy>
  <cp:revision>7</cp:revision>
  <dcterms:created xsi:type="dcterms:W3CDTF">2026-10-21T09:45:48Z</dcterms:created>
  <dcterms:modified xsi:type="dcterms:W3CDTF">2026-10-21T22:26:50Z</dcterms:modified>
</cp:coreProperties>
</file>